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Today I will talk about Polaris. Polaris checks Kubernetes YAML files. First, a question: who here approved a PR with a YAML file that worked, but was not good? (0:20)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this YAML. kubectl says yes. The Pod starts. But the image tag is latest, and the container runs as root. The API server only checks the format. It does not check good practices. Later, we see the problems: security problems, Pods killed because of memory, lost traffic. A late problem is an expensive problem. So we want to find it early, in the PR.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Polaris is an open source tool from Fairwinds. It is in the CNCF Landscape, but it is not a CNCF project. You can use it in three ways: in CI, as a webhook in the cluster, or as a dashboard. You use the same config file for all three. Today I will talk about the CLI.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Polaris has three groups of checks: security, efficiency and reliability. Each check has a level: ignore, warning or danger. Polaris also gives you a score, from 0 to 100. This is great for old projects. You don't need to fix everything on day one.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normal Deployment. Maybe it is your first commit. Look at it for a few seconds. How many problems can you see? Let's ask Polaris.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output from Polaris. The score is 35. There are 24 problems, and 6 are danger. Kubernetes does not block any of them. Then I fixed the file. I added securityContext, resources, probes, an image tag, 3 replicas, a PDB and a NetworkPolicy. Now the score is 100.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also write your own rules, with JSON Schema. In this example, images must come from our registry. In the repo, I also have a rule for the team label. The perfect file had 100. With our rules, it has 90. Polaris does not know your company, so you add your rules.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apps must break a rule. For example, kube-proxy and the CNI need hostNetwork. You can add an exception in the config file, or in the YAML file with an annotation. The good part: everyone can see the exception in the PR. (0:30)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put Polaris in the pipeline. With these two flags, Polaris returns an exit code. Exit code 3 means a danger problem. Exit code 4 means the score is too low. Make the job a required check, and nobody can merge the PR. My tip: start with warnings and a low score. Then go up a little every sprint.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Polaris or native tools? Kubernetes has Pod Security Admission. You add a label to the namespace, for example restricted. It is simple, but it only checks Pod security. Kubernetes also has ValidatingAdmissionPolicy, with CEL. It is very powerful, but you must write all the rules. Both run in the cluster, so you see the error late, on apply. Polaris runs before, in the PR. (1:15)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good part. Polaris is easy. You get value on day one, and it runs in the PR, with no cluster. Now, the bad part. At first you see many warnings, so you must change the config. JSON Schema is simple, so complex rules are hard. And people can skip CI with kubectl apply. So you still need checks in the cluster.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recommendation: use layers. Polaris in CI teaches the team, early. Pod Security Admission and ValidatingAdmissionPolicy in the cluster block bad YAML. The Polaris dashboard watches apps that are already running. Polaris does not replace native tools. It helps you find problems in the PR, not in production. (0:45)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Any questions? (0:20)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B2A3F"/>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B2A3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B2A3F"/>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B2A3F"/>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polaris.docs.fairwinds.com" TargetMode="External"/><Relationship Id="rId3" Type="http://schemas.openxmlformats.org/officeDocument/2006/relationships/hyperlink" Target="https://github.com/FairwindsOps/polaris" TargetMode="External"/><Relationship Id="rId4" Type="http://schemas.openxmlformats.org/officeDocument/2006/relationships/hyperlink" Target="https://www.cncf.io/blog/2021/07/01/what-is-fairwinds-polaris-kubernetes-open-source-configuration-validation/" TargetMode="External"/><Relationship Id="rId5" Type="http://schemas.openxmlformats.org/officeDocument/2006/relationships/hyperlink" Target="https://kubernetes.io/docs/concepts/security/pod-security-admission/" TargetMode="External"/><Relationship Id="rId6" Type="http://schemas.openxmlformats.org/officeDocument/2006/relationships/hyperlink" Target="https://kubernetes.io/docs/reference/access-authn-authz/validating-admission-policy/" TargetMode="External"/><Relationship Id="rId1" Type="http://schemas.openxmlformats.org/officeDocument/2006/relationships/image" Target="../media/image-13-1.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B"/>
        </a:solidFill>
      </p:bgPr>
    </p:bg>
    <p:spTree>
      <p:nvGrpSpPr>
        <p:cNvPr id="1" name=""/>
        <p:cNvGrpSpPr/>
        <p:nvPr/>
      </p:nvGrpSpPr>
      <p:grpSpPr>
        <a:xfrm>
          <a:off x="0" y="0"/>
          <a:ext cx="0" cy="0"/>
          <a:chOff x="0" y="0"/>
          <a:chExt cx="0" cy="0"/>
        </a:xfrm>
      </p:grpSpPr>
      <p:pic>
        <p:nvPicPr>
          <p:cNvPr id="2" name="Image 0" descr="Star">    </p:cNvPr>
          <p:cNvPicPr>
            <a:picLocks noChangeAspect="1"/>
          </p:cNvPicPr>
          <p:nvPr/>
        </p:nvPicPr>
        <p:blipFill>
          <a:blip r:embed="rId1"/>
          <a:srcRect l="0" r="0" t="0" b="0"/>
          <a:stretch/>
        </p:blipFill>
        <p:spPr>
          <a:xfrm>
            <a:off x="812800" y="1623086"/>
            <a:ext cx="609600" cy="609600"/>
          </a:xfrm>
          <a:prstGeom prst="rect">
            <a:avLst/>
          </a:prstGeom>
        </p:spPr>
      </p:pic>
      <p:sp>
        <p:nvSpPr>
          <p:cNvPr id="3" name="Text 0"/>
          <p:cNvSpPr/>
          <p:nvPr/>
        </p:nvSpPr>
        <p:spPr>
          <a:xfrm>
            <a:off x="812800" y="2486687"/>
            <a:ext cx="10883392" cy="309827"/>
          </a:xfrm>
          <a:prstGeom prst="rect">
            <a:avLst/>
          </a:prstGeom>
          <a:noFill/>
          <a:ln/>
        </p:spPr>
        <p:txBody>
          <a:bodyPr wrap="square" lIns="0" tIns="0" rIns="0" bIns="0" rtlCol="0" anchor="t">
            <a:normAutofit/>
          </a:bodyPr>
          <a:lstStyle/>
          <a:p>
            <a:pPr algn="l" indent="0" marL="0">
              <a:lnSpc>
                <a:spcPts val="2240"/>
              </a:lnSpc>
              <a:buNone/>
            </a:pPr>
            <a:r>
              <a:rPr lang="en-US" sz="1600" spc="200" kern="0" dirty="0">
                <a:solidFill>
                  <a:srgbClr val="F2A33A"/>
                </a:solidFill>
                <a:latin typeface="JetBrains Mono" pitchFamily="49" charset="0"/>
                <a:ea typeface="JetBrains Mono" pitchFamily="49" charset="-122"/>
                <a:cs typeface="JetBrains Mono" pitchFamily="49" charset="-120"/>
              </a:rPr>
              <a:t>FAIRWINDS POLARIS</a:t>
            </a:r>
            <a:endParaRPr lang="en-US" sz="1600" dirty="0"/>
          </a:p>
        </p:txBody>
      </p:sp>
      <p:sp>
        <p:nvSpPr>
          <p:cNvPr id="4" name="Text 1"/>
          <p:cNvSpPr/>
          <p:nvPr>
            <p:ph type="title"/>
          </p:nvPr>
        </p:nvSpPr>
        <p:spPr>
          <a:xfrm>
            <a:off x="812800" y="3025114"/>
            <a:ext cx="9810750"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EF"/>
                </a:solidFill>
                <a:latin typeface="IBM Plex Sans" pitchFamily="34" charset="0"/>
                <a:ea typeface="IBM Plex Sans" pitchFamily="34" charset="-122"/>
                <a:cs typeface="IBM Plex Sans" pitchFamily="34" charset="-120"/>
              </a:rPr>
              <a:t>Find bad Kubernetes YAML before the merge</a:t>
            </a:r>
            <a:endParaRPr lang="en-US" sz="6000" dirty="0"/>
          </a:p>
        </p:txBody>
      </p:sp>
      <p:sp>
        <p:nvSpPr>
          <p:cNvPr id="5" name="Text 2"/>
          <p:cNvSpPr/>
          <p:nvPr/>
        </p:nvSpPr>
        <p:spPr>
          <a:xfrm>
            <a:off x="812800" y="4879314"/>
            <a:ext cx="91567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9C4D3"/>
                </a:solidFill>
                <a:latin typeface="IBM Plex Sans" pitchFamily="34" charset="0"/>
                <a:ea typeface="IBM Plex Sans" pitchFamily="34" charset="-122"/>
                <a:cs typeface="IBM Plex Sans" pitchFamily="34" charset="-120"/>
              </a:rPr>
              <a:t>Check your YAML in CI/CD: examples, pros and cons, and native tools</a:t>
            </a:r>
            <a:endParaRPr lang="en-US" sz="2000" dirty="0"/>
          </a:p>
        </p:txBody>
      </p:sp>
      <p:sp>
        <p:nvSpPr>
          <p:cNvPr id="6" name="Text 3"/>
          <p:cNvSpPr/>
          <p:nvPr/>
        </p:nvSpPr>
        <p:spPr>
          <a:xfrm>
            <a:off x="812800" y="5999493"/>
            <a:ext cx="784860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4D3"/>
                </a:solidFill>
                <a:latin typeface="IBM Plex Sans" pitchFamily="34" charset="0"/>
                <a:ea typeface="IBM Plex Sans" pitchFamily="34" charset="-122"/>
                <a:cs typeface="IBM Plex Sans" pitchFamily="34" charset="-120"/>
              </a:rPr>
              <a:t>Rodrigo de Lima Silva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65F00"/>
                </a:solidFill>
                <a:latin typeface="JetBrains Mono" pitchFamily="49" charset="0"/>
                <a:ea typeface="JetBrains Mono" pitchFamily="49" charset="-122"/>
                <a:cs typeface="JetBrains Mono" pitchFamily="49" charset="-120"/>
              </a:rPr>
              <a:t>THE PROBLEM</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F"/>
                </a:solidFill>
                <a:latin typeface="IBM Plex Sans" pitchFamily="34" charset="0"/>
                <a:ea typeface="IBM Plex Sans" pitchFamily="34" charset="-122"/>
                <a:cs typeface="IBM Plex Sans" pitchFamily="34" charset="-120"/>
              </a:rPr>
              <a:t>"It works" is not "it's good"</a:t>
            </a:r>
            <a:endParaRPr lang="en-US" sz="3600" dirty="0"/>
          </a:p>
        </p:txBody>
      </p:sp>
      <p:sp>
        <p:nvSpPr>
          <p:cNvPr id="4" name="Shape 2"/>
          <p:cNvSpPr/>
          <p:nvPr/>
        </p:nvSpPr>
        <p:spPr>
          <a:xfrm>
            <a:off x="812800" y="1986228"/>
            <a:ext cx="5612209" cy="2824427"/>
          </a:xfrm>
          <a:prstGeom prst="roundRect">
            <a:avLst>
              <a:gd name="adj" fmla="val 4496"/>
            </a:avLst>
          </a:prstGeom>
          <a:solidFill>
            <a:srgbClr val="13233A"/>
          </a:solidFill>
          <a:ln/>
        </p:spPr>
      </p:sp>
      <p:sp>
        <p:nvSpPr>
          <p:cNvPr id="5" name="Text 3"/>
          <p:cNvSpPr/>
          <p:nvPr/>
        </p:nvSpPr>
        <p:spPr>
          <a:xfrm>
            <a:off x="1117600" y="2291028"/>
            <a:ext cx="5152688" cy="1549400"/>
          </a:xfrm>
          <a:prstGeom prst="rect">
            <a:avLst/>
          </a:prstGeom>
          <a:noFill/>
          <a:ln/>
        </p:spPr>
        <p:txBody>
          <a:bodyPr wrap="square" lIns="0" tIns="0" rIns="0" bIns="0" rtlCol="0" anchor="t">
            <a:normAutofit/>
          </a:bodyPr>
          <a:lstStyle/>
          <a:p>
            <a:pPr algn="l" indent="0" marL="0">
              <a:lnSpc>
                <a:spcPts val="2400"/>
              </a:lnSpc>
              <a:buNone/>
            </a:pPr>
            <a:r>
              <a:rPr lang="en-US" sz="1500" dirty="0">
                <a:solidFill>
                  <a:srgbClr val="E6EDF5"/>
                </a:solidFill>
                <a:latin typeface="JetBrains Mono" pitchFamily="49" charset="0"/>
                <a:ea typeface="JetBrains Mono" pitchFamily="49" charset="-122"/>
                <a:cs typeface="JetBrains Mono" pitchFamily="49" charset="-120"/>
              </a:rPr>
              <a:t>containers:</a:t>
            </a:r>
            <a:endParaRPr lang="en-US" sz="1500" dirty="0"/>
          </a:p>
          <a:p>
            <a:pPr algn="l" indent="0" marL="0">
              <a:lnSpc>
                <a:spcPts val="2400"/>
              </a:lnSpc>
              <a:buNone/>
            </a:pPr>
            <a:r>
              <a:rPr lang="en-US" sz="1500" dirty="0">
                <a:solidFill>
                  <a:srgbClr val="E6EDF5"/>
                </a:solidFill>
                <a:latin typeface="JetBrains Mono" pitchFamily="49" charset="0"/>
                <a:ea typeface="JetBrains Mono" pitchFamily="49" charset="-122"/>
                <a:cs typeface="JetBrains Mono" pitchFamily="49" charset="-120"/>
              </a:rPr>
              <a:t>  - name: api</a:t>
            </a:r>
            <a:endParaRPr lang="en-US" sz="1500" dirty="0"/>
          </a:p>
          <a:p>
            <a:pPr algn="l" indent="0" marL="0">
              <a:lnSpc>
                <a:spcPts val="2400"/>
              </a:lnSpc>
              <a:buNone/>
            </a:pPr>
            <a:r>
              <a:rPr lang="en-US" sz="1500" dirty="0">
                <a:solidFill>
                  <a:srgbClr val="E6EDF5"/>
                </a:solidFill>
                <a:latin typeface="JetBrains Mono" pitchFamily="49" charset="0"/>
                <a:ea typeface="JetBrains Mono" pitchFamily="49" charset="-122"/>
                <a:cs typeface="JetBrains Mono" pitchFamily="49" charset="-120"/>
              </a:rPr>
              <a:t>    image: </a:t>
            </a:r>
            <a:r>
              <a:rPr lang="en-US" sz="1500" dirty="0">
                <a:solidFill>
                  <a:srgbClr val="F2A33A"/>
                </a:solidFill>
                <a:latin typeface="JetBrains Mono" pitchFamily="49" charset="0"/>
                <a:ea typeface="JetBrains Mono" pitchFamily="49" charset="-122"/>
                <a:cs typeface="JetBrains Mono" pitchFamily="49" charset="-120"/>
              </a:rPr>
              <a:t>nginx:latest</a:t>
            </a:r>
            <a:endParaRPr lang="en-US" sz="1500" dirty="0"/>
          </a:p>
          <a:p>
            <a:pPr algn="l" indent="0" marL="0">
              <a:lnSpc>
                <a:spcPts val="2400"/>
              </a:lnSpc>
              <a:buNone/>
            </a:pPr>
            <a:r>
              <a:rPr lang="en-US" sz="1500" dirty="0">
                <a:solidFill>
                  <a:srgbClr val="E6EDF5"/>
                </a:solidFill>
                <a:latin typeface="JetBrains Mono" pitchFamily="49" charset="0"/>
                <a:ea typeface="JetBrains Mono" pitchFamily="49" charset="-122"/>
                <a:cs typeface="JetBrains Mono" pitchFamily="49" charset="-120"/>
              </a:rPr>
              <a:t>    securityContext:</a:t>
            </a:r>
            <a:endParaRPr lang="en-US" sz="1500" dirty="0"/>
          </a:p>
          <a:p>
            <a:pPr algn="l" indent="0" marL="0">
              <a:lnSpc>
                <a:spcPts val="2400"/>
              </a:lnSpc>
              <a:buNone/>
            </a:pPr>
            <a:r>
              <a:rPr lang="en-US" sz="1500" dirty="0">
                <a:solidFill>
                  <a:srgbClr val="E6EDF5"/>
                </a:solidFill>
                <a:latin typeface="JetBrains Mono" pitchFamily="49" charset="0"/>
                <a:ea typeface="JetBrains Mono" pitchFamily="49" charset="-122"/>
                <a:cs typeface="JetBrains Mono" pitchFamily="49" charset="-120"/>
              </a:rPr>
              <a:t>      privileged: </a:t>
            </a:r>
            <a:r>
              <a:rPr lang="en-US" sz="1500" dirty="0">
                <a:solidFill>
                  <a:srgbClr val="F2A33A"/>
                </a:solidFill>
                <a:latin typeface="JetBrains Mono" pitchFamily="49" charset="0"/>
                <a:ea typeface="JetBrains Mono" pitchFamily="49" charset="-122"/>
                <a:cs typeface="JetBrains Mono" pitchFamily="49" charset="-120"/>
              </a:rPr>
              <a:t>true</a:t>
            </a:r>
            <a:endParaRPr lang="en-US" sz="1500" dirty="0"/>
          </a:p>
        </p:txBody>
      </p:sp>
      <p:sp>
        <p:nvSpPr>
          <p:cNvPr id="6" name="Text 4"/>
          <p:cNvSpPr/>
          <p:nvPr/>
        </p:nvSpPr>
        <p:spPr>
          <a:xfrm>
            <a:off x="1117600" y="4018228"/>
            <a:ext cx="5152688" cy="513027"/>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8FA3BC"/>
                </a:solidFill>
                <a:latin typeface="JetBrains Mono" pitchFamily="49" charset="0"/>
                <a:ea typeface="JetBrains Mono" pitchFamily="49" charset="-122"/>
                <a:cs typeface="JetBrains Mono" pitchFamily="49" charset="-120"/>
              </a:rPr>
              <a:t>→ which version runs tomorrow?</a:t>
            </a:r>
            <a:endParaRPr lang="en-US" sz="1200" dirty="0"/>
          </a:p>
          <a:p>
            <a:pPr algn="l" indent="0" marL="0">
              <a:lnSpc>
                <a:spcPts val="1920"/>
              </a:lnSpc>
              <a:buNone/>
            </a:pPr>
            <a:r>
              <a:rPr lang="en-US" sz="1200" dirty="0">
                <a:solidFill>
                  <a:srgbClr val="8FA3BC"/>
                </a:solidFill>
                <a:latin typeface="JetBrains Mono" pitchFamily="49" charset="0"/>
                <a:ea typeface="JetBrains Mono" pitchFamily="49" charset="-122"/>
                <a:cs typeface="JetBrains Mono" pitchFamily="49" charset="-120"/>
              </a:rPr>
              <a:t>→ runs as root on the node</a:t>
            </a:r>
            <a:endParaRPr lang="en-US" sz="1200" dirty="0"/>
          </a:p>
        </p:txBody>
      </p:sp>
      <p:sp>
        <p:nvSpPr>
          <p:cNvPr id="7" name="Text 5"/>
          <p:cNvSpPr/>
          <p:nvPr/>
        </p:nvSpPr>
        <p:spPr>
          <a:xfrm>
            <a:off x="6831409" y="1986228"/>
            <a:ext cx="4684224" cy="6604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1B2A3F"/>
                </a:solidFill>
                <a:latin typeface="IBM Plex Sans" pitchFamily="34" charset="0"/>
                <a:ea typeface="IBM Plex Sans" pitchFamily="34" charset="-122"/>
                <a:cs typeface="IBM Plex Sans" pitchFamily="34" charset="-120"/>
              </a:rPr>
              <a:t>kubectl says yes. The Pod starts. The reviewer does not see the problem.</a:t>
            </a:r>
            <a:endParaRPr lang="en-US" sz="2000" dirty="0"/>
          </a:p>
        </p:txBody>
      </p:sp>
      <p:pic>
        <p:nvPicPr>
          <p:cNvPr id="8" name="Image 0" descr="Lock">    </p:cNvPr>
          <p:cNvPicPr>
            <a:picLocks noChangeAspect="1"/>
          </p:cNvPicPr>
          <p:nvPr/>
        </p:nvPicPr>
        <p:blipFill>
          <a:blip r:embed="rId1"/>
          <a:srcRect l="0" r="0" t="0" b="0"/>
          <a:stretch/>
        </p:blipFill>
        <p:spPr>
          <a:xfrm>
            <a:off x="6831409" y="2824428"/>
            <a:ext cx="304800" cy="304800"/>
          </a:xfrm>
          <a:prstGeom prst="rect">
            <a:avLst/>
          </a:prstGeom>
        </p:spPr>
      </p:pic>
      <p:sp>
        <p:nvSpPr>
          <p:cNvPr id="9" name="Text 6"/>
          <p:cNvSpPr/>
          <p:nvPr/>
        </p:nvSpPr>
        <p:spPr>
          <a:xfrm>
            <a:off x="7288609" y="2834614"/>
            <a:ext cx="1991519"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IBM Plex Sans" pitchFamily="34" charset="0"/>
                <a:ea typeface="IBM Plex Sans" pitchFamily="34" charset="-122"/>
                <a:cs typeface="IBM Plex Sans" pitchFamily="34" charset="-120"/>
              </a:rPr>
              <a:t>Security problems</a:t>
            </a:r>
            <a:endParaRPr lang="en-US" sz="1600" dirty="0"/>
          </a:p>
        </p:txBody>
      </p:sp>
      <p:pic>
        <p:nvPicPr>
          <p:cNvPr id="10" name="Image 1" descr="Warning">    </p:cNvPr>
          <p:cNvPicPr>
            <a:picLocks noChangeAspect="1"/>
          </p:cNvPicPr>
          <p:nvPr/>
        </p:nvPicPr>
        <p:blipFill>
          <a:blip r:embed="rId2"/>
          <a:srcRect l="0" r="0" t="0" b="0"/>
          <a:stretch/>
        </p:blipFill>
        <p:spPr>
          <a:xfrm>
            <a:off x="6831409" y="3332428"/>
            <a:ext cx="304800" cy="304800"/>
          </a:xfrm>
          <a:prstGeom prst="rect">
            <a:avLst/>
          </a:prstGeom>
        </p:spPr>
      </p:pic>
      <p:sp>
        <p:nvSpPr>
          <p:cNvPr id="11" name="Text 7"/>
          <p:cNvSpPr/>
          <p:nvPr/>
        </p:nvSpPr>
        <p:spPr>
          <a:xfrm>
            <a:off x="7288609" y="3342614"/>
            <a:ext cx="2921714"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IBM Plex Sans" pitchFamily="34" charset="0"/>
                <a:ea typeface="IBM Plex Sans" pitchFamily="34" charset="-122"/>
                <a:cs typeface="IBM Plex Sans" pitchFamily="34" charset="-120"/>
              </a:rPr>
              <a:t>Pods killed: out of memory</a:t>
            </a:r>
            <a:endParaRPr lang="en-US" sz="1600" dirty="0"/>
          </a:p>
        </p:txBody>
      </p:sp>
      <p:pic>
        <p:nvPicPr>
          <p:cNvPr id="12" name="Image 2" descr="Activity">    </p:cNvPr>
          <p:cNvPicPr>
            <a:picLocks noChangeAspect="1"/>
          </p:cNvPicPr>
          <p:nvPr/>
        </p:nvPicPr>
        <p:blipFill>
          <a:blip r:embed="rId3"/>
          <a:srcRect l="0" r="0" t="0" b="0"/>
          <a:stretch/>
        </p:blipFill>
        <p:spPr>
          <a:xfrm>
            <a:off x="6831409" y="3840428"/>
            <a:ext cx="304800" cy="304800"/>
          </a:xfrm>
          <a:prstGeom prst="rect">
            <a:avLst/>
          </a:prstGeom>
        </p:spPr>
      </p:pic>
      <p:sp>
        <p:nvSpPr>
          <p:cNvPr id="13" name="Text 8"/>
          <p:cNvSpPr/>
          <p:nvPr/>
        </p:nvSpPr>
        <p:spPr>
          <a:xfrm>
            <a:off x="7288609" y="3850614"/>
            <a:ext cx="2382361"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IBM Plex Sans" pitchFamily="34" charset="0"/>
                <a:ea typeface="IBM Plex Sans" pitchFamily="34" charset="-122"/>
                <a:cs typeface="IBM Plex Sans" pitchFamily="34" charset="-120"/>
              </a:rPr>
              <a:t>Lost traffic: no probes</a:t>
            </a:r>
            <a:endParaRPr lang="en-US" sz="1600" dirty="0"/>
          </a:p>
        </p:txBody>
      </p:sp>
      <p:sp>
        <p:nvSpPr>
          <p:cNvPr id="14" name="Text 9"/>
          <p:cNvSpPr/>
          <p:nvPr/>
        </p:nvSpPr>
        <p:spPr>
          <a:xfrm>
            <a:off x="812800" y="5166254"/>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IBM Plex Sans" pitchFamily="34" charset="0"/>
                <a:ea typeface="IBM Plex Sans" pitchFamily="34" charset="-122"/>
                <a:cs typeface="IBM Plex Sans" pitchFamily="34" charset="-120"/>
              </a:rPr>
              <a:t>The API server checks the </a:t>
            </a:r>
            <a:r>
              <a:rPr lang="en-US" sz="1600" b="1" dirty="0">
                <a:solidFill>
                  <a:srgbClr val="3D4A5C"/>
                </a:solidFill>
                <a:latin typeface="IBM Plex Sans" pitchFamily="34" charset="0"/>
                <a:ea typeface="IBM Plex Sans" pitchFamily="34" charset="-122"/>
                <a:cs typeface="IBM Plex Sans" pitchFamily="34" charset="-120"/>
              </a:rPr>
              <a:t>format</a:t>
            </a:r>
            <a:r>
              <a:rPr lang="en-US" sz="1600" dirty="0">
                <a:solidFill>
                  <a:srgbClr val="3D4A5C"/>
                </a:solidFill>
                <a:latin typeface="IBM Plex Sans" pitchFamily="34" charset="0"/>
                <a:ea typeface="IBM Plex Sans" pitchFamily="34" charset="-122"/>
                <a:cs typeface="IBM Plex Sans" pitchFamily="34" charset="-120"/>
              </a:rPr>
              <a:t>, not </a:t>
            </a:r>
            <a:r>
              <a:rPr lang="en-US" sz="1600" b="1" dirty="0">
                <a:solidFill>
                  <a:srgbClr val="3D4A5C"/>
                </a:solidFill>
                <a:latin typeface="IBM Plex Sans" pitchFamily="34" charset="0"/>
                <a:ea typeface="IBM Plex Sans" pitchFamily="34" charset="-122"/>
                <a:cs typeface="IBM Plex Sans" pitchFamily="34" charset="-120"/>
              </a:rPr>
              <a:t>good practices</a:t>
            </a:r>
            <a:r>
              <a:rPr lang="en-US" sz="1600" dirty="0">
                <a:solidFill>
                  <a:srgbClr val="3D4A5C"/>
                </a:solidFill>
                <a:latin typeface="IBM Plex Sans" pitchFamily="34" charset="0"/>
                <a:ea typeface="IBM Plex Sans" pitchFamily="34" charset="-122"/>
                <a:cs typeface="IBM Plex Sans" pitchFamily="34" charset="-120"/>
              </a:rPr>
              <a:t>. A late problem is an expensive problem → </a:t>
            </a:r>
            <a:r>
              <a:rPr lang="en-US" sz="1600" b="1" dirty="0">
                <a:solidFill>
                  <a:srgbClr val="A65F00"/>
                </a:solidFill>
                <a:latin typeface="IBM Plex Sans" pitchFamily="34" charset="0"/>
                <a:ea typeface="IBM Plex Sans" pitchFamily="34" charset="-122"/>
                <a:cs typeface="IBM Plex Sans" pitchFamily="34" charset="-120"/>
              </a:rPr>
              <a:t>shift-left</a:t>
            </a:r>
            <a:r>
              <a:rPr lang="en-US" sz="1600" dirty="0">
                <a:solidFill>
                  <a:srgbClr val="3D4A5C"/>
                </a:solidFill>
                <a:latin typeface="IBM Plex Sans" pitchFamily="34" charset="0"/>
                <a:ea typeface="IBM Plex Sans" pitchFamily="34" charset="-122"/>
                <a:cs typeface="IBM Plex Sans" pitchFamily="34" charset="-120"/>
              </a:rPr>
              <a: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65F00"/>
                </a:solidFill>
                <a:latin typeface="JetBrains Mono" pitchFamily="49" charset="0"/>
                <a:ea typeface="JetBrains Mono" pitchFamily="49" charset="-122"/>
                <a:cs typeface="JetBrains Mono" pitchFamily="49" charset="-120"/>
              </a:rPr>
              <a:t>WHAT IS POLARIS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F"/>
                </a:solidFill>
                <a:latin typeface="IBM Plex Sans" pitchFamily="34" charset="0"/>
                <a:ea typeface="IBM Plex Sans" pitchFamily="34" charset="-122"/>
                <a:cs typeface="IBM Plex Sans" pitchFamily="34" charset="-120"/>
              </a:rPr>
              <a:t>One tool, three ways to use it</a:t>
            </a:r>
            <a:endParaRPr lang="en-US" sz="3600" dirty="0"/>
          </a:p>
        </p:txBody>
      </p:sp>
      <p:sp>
        <p:nvSpPr>
          <p:cNvPr id="4" name="Text 2"/>
          <p:cNvSpPr/>
          <p:nvPr/>
        </p:nvSpPr>
        <p:spPr>
          <a:xfrm>
            <a:off x="812800" y="1732228"/>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IBM Plex Sans" pitchFamily="34" charset="0"/>
                <a:ea typeface="IBM Plex Sans" pitchFamily="34" charset="-122"/>
                <a:cs typeface="IBM Plex Sans" pitchFamily="34" charset="-120"/>
              </a:rPr>
              <a:t>Open source tool from Fairwinds. It checks your apps with good practices.</a:t>
            </a:r>
            <a:endParaRPr lang="en-US" sz="1600" dirty="0"/>
          </a:p>
        </p:txBody>
      </p:sp>
      <p:sp>
        <p:nvSpPr>
          <p:cNvPr id="5" name="Shape 3"/>
          <p:cNvSpPr/>
          <p:nvPr/>
        </p:nvSpPr>
        <p:spPr>
          <a:xfrm>
            <a:off x="812800" y="2372255"/>
            <a:ext cx="3369733" cy="3022468"/>
          </a:xfrm>
          <a:prstGeom prst="roundRect">
            <a:avLst>
              <a:gd name="adj" fmla="val 4202"/>
            </a:avLst>
          </a:prstGeom>
          <a:solidFill>
            <a:srgbClr val="13233A"/>
          </a:solidFill>
          <a:ln/>
        </p:spPr>
      </p:sp>
      <p:pic>
        <p:nvPicPr>
          <p:cNvPr id="6" name="Image 0" descr="Code">    </p:cNvPr>
          <p:cNvPicPr>
            <a:picLocks noChangeAspect="1"/>
          </p:cNvPicPr>
          <p:nvPr/>
        </p:nvPicPr>
        <p:blipFill>
          <a:blip r:embed="rId1"/>
          <a:srcRect l="0" r="0" t="0" b="0"/>
          <a:stretch/>
        </p:blipFill>
        <p:spPr>
          <a:xfrm>
            <a:off x="1117600" y="2677055"/>
            <a:ext cx="355600" cy="355600"/>
          </a:xfrm>
          <a:prstGeom prst="rect">
            <a:avLst/>
          </a:prstGeom>
        </p:spPr>
      </p:pic>
      <p:sp>
        <p:nvSpPr>
          <p:cNvPr id="7" name="Text 4"/>
          <p:cNvSpPr/>
          <p:nvPr/>
        </p:nvSpPr>
        <p:spPr>
          <a:xfrm>
            <a:off x="1117600" y="3159655"/>
            <a:ext cx="284293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5EF"/>
                </a:solidFill>
                <a:latin typeface="IBM Plex Sans" pitchFamily="34" charset="0"/>
                <a:ea typeface="IBM Plex Sans" pitchFamily="34" charset="-122"/>
                <a:cs typeface="IBM Plex Sans" pitchFamily="34" charset="-120"/>
              </a:rPr>
              <a:t>CLI</a:t>
            </a:r>
            <a:endParaRPr lang="en-US" sz="1800" dirty="0"/>
          </a:p>
        </p:txBody>
      </p:sp>
      <p:sp>
        <p:nvSpPr>
          <p:cNvPr id="8" name="Text 5"/>
          <p:cNvSpPr/>
          <p:nvPr/>
        </p:nvSpPr>
        <p:spPr>
          <a:xfrm>
            <a:off x="1117600" y="3560961"/>
            <a:ext cx="28429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3A"/>
                </a:solidFill>
                <a:latin typeface="JetBrains Mono" pitchFamily="49" charset="0"/>
                <a:ea typeface="JetBrains Mono" pitchFamily="49" charset="-122"/>
                <a:cs typeface="JetBrains Mono" pitchFamily="49" charset="-120"/>
              </a:rPr>
              <a:t>polaris audit</a:t>
            </a:r>
            <a:endParaRPr lang="en-US" sz="1200" dirty="0"/>
          </a:p>
        </p:txBody>
      </p:sp>
      <p:sp>
        <p:nvSpPr>
          <p:cNvPr id="9" name="Text 6"/>
          <p:cNvSpPr/>
          <p:nvPr/>
        </p:nvSpPr>
        <p:spPr>
          <a:xfrm>
            <a:off x="1117600" y="3901281"/>
            <a:ext cx="2842937" cy="7721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0"/>
                </a:solidFill>
                <a:latin typeface="IBM Plex Sans" pitchFamily="34" charset="0"/>
                <a:ea typeface="IBM Plex Sans" pitchFamily="34" charset="-122"/>
                <a:cs typeface="IBM Plex Sans" pitchFamily="34" charset="-120"/>
              </a:rPr>
              <a:t>Runs in CI or on your laptop. Checks YAML and Helm </a:t>
            </a:r>
            <a:r>
              <a:rPr lang="en-US" sz="1400" b="1" dirty="0">
                <a:solidFill>
                  <a:srgbClr val="C9D3E0"/>
                </a:solidFill>
                <a:latin typeface="IBM Plex Sans" pitchFamily="34" charset="0"/>
                <a:ea typeface="IBM Plex Sans" pitchFamily="34" charset="-122"/>
                <a:cs typeface="IBM Plex Sans" pitchFamily="34" charset="-120"/>
              </a:rPr>
              <a:t>before</a:t>
            </a:r>
            <a:r>
              <a:rPr lang="en-US" sz="1400" dirty="0">
                <a:solidFill>
                  <a:srgbClr val="C9D3E0"/>
                </a:solidFill>
                <a:latin typeface="IBM Plex Sans" pitchFamily="34" charset="0"/>
                <a:ea typeface="IBM Plex Sans" pitchFamily="34" charset="-122"/>
                <a:cs typeface="IBM Plex Sans" pitchFamily="34" charset="-120"/>
              </a:rPr>
              <a:t> the deploy.</a:t>
            </a:r>
            <a:endParaRPr lang="en-US" sz="1400" dirty="0"/>
          </a:p>
        </p:txBody>
      </p:sp>
      <p:sp>
        <p:nvSpPr>
          <p:cNvPr id="10" name="Text 7"/>
          <p:cNvSpPr/>
          <p:nvPr/>
        </p:nvSpPr>
        <p:spPr>
          <a:xfrm>
            <a:off x="1117600" y="4775002"/>
            <a:ext cx="2760133" cy="314920"/>
          </a:xfrm>
          <a:prstGeom prst="roundRect">
            <a:avLst>
              <a:gd name="adj" fmla="val 50000"/>
            </a:avLst>
          </a:prstGeom>
          <a:solidFill>
            <a:srgbClr val="F2A33A"/>
          </a:solidFill>
          <a:ln/>
        </p:spPr>
        <p:txBody>
          <a:bodyPr wrap="square" lIns="80881" tIns="4681" rIns="5697" bIns="0" rtlCol="0" anchor="t">
            <a:normAutofit/>
          </a:bodyPr>
          <a:lstStyle/>
          <a:p>
            <a:pPr algn="l"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Today's focus</a:t>
            </a:r>
            <a:endParaRPr lang="en-US" sz="1200" dirty="0"/>
          </a:p>
        </p:txBody>
      </p:sp>
      <p:sp>
        <p:nvSpPr>
          <p:cNvPr id="11" name="Shape 8"/>
          <p:cNvSpPr/>
          <p:nvPr/>
        </p:nvSpPr>
        <p:spPr>
          <a:xfrm>
            <a:off x="4392083" y="2378605"/>
            <a:ext cx="3382433" cy="3009768"/>
          </a:xfrm>
          <a:prstGeom prst="roundRect">
            <a:avLst>
              <a:gd name="adj" fmla="val 4009"/>
            </a:avLst>
          </a:prstGeom>
          <a:solidFill>
            <a:srgbClr val="FDFCF8"/>
          </a:solidFill>
          <a:ln w="12700">
            <a:solidFill>
              <a:srgbClr val="E2DED3"/>
            </a:solidFill>
            <a:prstDash val="solid"/>
          </a:ln>
        </p:spPr>
      </p:sp>
      <p:pic>
        <p:nvPicPr>
          <p:cNvPr id="12" name="Image 1" descr="Lock">    </p:cNvPr>
          <p:cNvPicPr>
            <a:picLocks noChangeAspect="1"/>
          </p:cNvPicPr>
          <p:nvPr/>
        </p:nvPicPr>
        <p:blipFill>
          <a:blip r:embed="rId2"/>
          <a:srcRect l="0" r="0" t="0" b="0"/>
          <a:stretch/>
        </p:blipFill>
        <p:spPr>
          <a:xfrm>
            <a:off x="4703233" y="2689755"/>
            <a:ext cx="355600" cy="355600"/>
          </a:xfrm>
          <a:prstGeom prst="rect">
            <a:avLst/>
          </a:prstGeom>
        </p:spPr>
      </p:pic>
      <p:sp>
        <p:nvSpPr>
          <p:cNvPr id="13" name="Text 9"/>
          <p:cNvSpPr/>
          <p:nvPr/>
        </p:nvSpPr>
        <p:spPr>
          <a:xfrm>
            <a:off x="4703233" y="3172355"/>
            <a:ext cx="284293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3F"/>
                </a:solidFill>
                <a:latin typeface="IBM Plex Sans" pitchFamily="34" charset="0"/>
                <a:ea typeface="IBM Plex Sans" pitchFamily="34" charset="-122"/>
                <a:cs typeface="IBM Plex Sans" pitchFamily="34" charset="-120"/>
              </a:rPr>
              <a:t>Admission webhook</a:t>
            </a:r>
            <a:endParaRPr lang="en-US" sz="1800" dirty="0"/>
          </a:p>
        </p:txBody>
      </p:sp>
      <p:sp>
        <p:nvSpPr>
          <p:cNvPr id="14" name="Text 10"/>
          <p:cNvSpPr/>
          <p:nvPr/>
        </p:nvSpPr>
        <p:spPr>
          <a:xfrm>
            <a:off x="4703233" y="3573661"/>
            <a:ext cx="28429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EB"/>
                </a:solidFill>
                <a:latin typeface="JetBrains Mono" pitchFamily="49" charset="0"/>
                <a:ea typeface="JetBrains Mono" pitchFamily="49" charset="-122"/>
                <a:cs typeface="JetBrains Mono" pitchFamily="49" charset="-120"/>
              </a:rPr>
              <a:t>polaris webhook</a:t>
            </a:r>
            <a:endParaRPr lang="en-US" sz="1200" dirty="0"/>
          </a:p>
        </p:txBody>
      </p:sp>
      <p:sp>
        <p:nvSpPr>
          <p:cNvPr id="15" name="Text 11"/>
          <p:cNvSpPr/>
          <p:nvPr/>
        </p:nvSpPr>
        <p:spPr>
          <a:xfrm>
            <a:off x="4703233" y="3913981"/>
            <a:ext cx="2842937"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Runs in the cluster. Stops bad YAML that did not go through CI.</a:t>
            </a:r>
            <a:endParaRPr lang="en-US" sz="1400" dirty="0"/>
          </a:p>
        </p:txBody>
      </p:sp>
      <p:sp>
        <p:nvSpPr>
          <p:cNvPr id="16" name="Shape 12"/>
          <p:cNvSpPr/>
          <p:nvPr/>
        </p:nvSpPr>
        <p:spPr>
          <a:xfrm>
            <a:off x="7990417" y="2378605"/>
            <a:ext cx="3382433" cy="3009768"/>
          </a:xfrm>
          <a:prstGeom prst="roundRect">
            <a:avLst>
              <a:gd name="adj" fmla="val 4009"/>
            </a:avLst>
          </a:prstGeom>
          <a:solidFill>
            <a:srgbClr val="FDFCF8"/>
          </a:solidFill>
          <a:ln w="12700">
            <a:solidFill>
              <a:srgbClr val="E2DED3"/>
            </a:solidFill>
            <a:prstDash val="solid"/>
          </a:ln>
        </p:spPr>
      </p:sp>
      <p:pic>
        <p:nvPicPr>
          <p:cNvPr id="17" name="Image 2" descr="Chart">    </p:cNvPr>
          <p:cNvPicPr>
            <a:picLocks noChangeAspect="1"/>
          </p:cNvPicPr>
          <p:nvPr/>
        </p:nvPicPr>
        <p:blipFill>
          <a:blip r:embed="rId3"/>
          <a:srcRect l="0" r="0" t="0" b="0"/>
          <a:stretch/>
        </p:blipFill>
        <p:spPr>
          <a:xfrm>
            <a:off x="8301567" y="2689755"/>
            <a:ext cx="355600" cy="355600"/>
          </a:xfrm>
          <a:prstGeom prst="rect">
            <a:avLst/>
          </a:prstGeom>
        </p:spPr>
      </p:pic>
      <p:sp>
        <p:nvSpPr>
          <p:cNvPr id="18" name="Text 13"/>
          <p:cNvSpPr/>
          <p:nvPr/>
        </p:nvSpPr>
        <p:spPr>
          <a:xfrm>
            <a:off x="8301567" y="3172355"/>
            <a:ext cx="284293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3F"/>
                </a:solidFill>
                <a:latin typeface="IBM Plex Sans" pitchFamily="34" charset="0"/>
                <a:ea typeface="IBM Plex Sans" pitchFamily="34" charset="-122"/>
                <a:cs typeface="IBM Plex Sans" pitchFamily="34" charset="-120"/>
              </a:rPr>
              <a:t>Dashboard</a:t>
            </a:r>
            <a:endParaRPr lang="en-US" sz="1800" dirty="0"/>
          </a:p>
        </p:txBody>
      </p:sp>
      <p:sp>
        <p:nvSpPr>
          <p:cNvPr id="19" name="Text 14"/>
          <p:cNvSpPr/>
          <p:nvPr/>
        </p:nvSpPr>
        <p:spPr>
          <a:xfrm>
            <a:off x="8301567" y="3573661"/>
            <a:ext cx="28429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EB"/>
                </a:solidFill>
                <a:latin typeface="JetBrains Mono" pitchFamily="49" charset="0"/>
                <a:ea typeface="JetBrains Mono" pitchFamily="49" charset="-122"/>
                <a:cs typeface="JetBrains Mono" pitchFamily="49" charset="-120"/>
              </a:rPr>
              <a:t>polaris dashboard</a:t>
            </a:r>
            <a:endParaRPr lang="en-US" sz="1200" dirty="0"/>
          </a:p>
        </p:txBody>
      </p:sp>
      <p:sp>
        <p:nvSpPr>
          <p:cNvPr id="20" name="Text 15"/>
          <p:cNvSpPr/>
          <p:nvPr/>
        </p:nvSpPr>
        <p:spPr>
          <a:xfrm>
            <a:off x="8301567" y="3913981"/>
            <a:ext cx="2842937"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Runs in the cluster. Shows problems in apps </a:t>
            </a:r>
            <a:r>
              <a:rPr lang="en-US" sz="1400" b="1" dirty="0">
                <a:solidFill>
                  <a:srgbClr val="3D4A5C"/>
                </a:solidFill>
                <a:latin typeface="IBM Plex Sans" pitchFamily="34" charset="0"/>
                <a:ea typeface="IBM Plex Sans" pitchFamily="34" charset="-122"/>
                <a:cs typeface="IBM Plex Sans" pitchFamily="34" charset="-120"/>
              </a:rPr>
              <a:t>already</a:t>
            </a:r>
            <a:r>
              <a:rPr lang="en-US" sz="1400" dirty="0">
                <a:solidFill>
                  <a:srgbClr val="3D4A5C"/>
                </a:solidFill>
                <a:latin typeface="IBM Plex Sans" pitchFamily="34" charset="0"/>
                <a:ea typeface="IBM Plex Sans" pitchFamily="34" charset="-122"/>
                <a:cs typeface="IBM Plex Sans" pitchFamily="34" charset="-120"/>
              </a:rPr>
              <a:t> running.</a:t>
            </a:r>
            <a:endParaRPr lang="en-US" sz="1400" dirty="0"/>
          </a:p>
        </p:txBody>
      </p:sp>
      <p:sp>
        <p:nvSpPr>
          <p:cNvPr id="21" name="Text 16"/>
          <p:cNvSpPr/>
          <p:nvPr/>
        </p:nvSpPr>
        <p:spPr>
          <a:xfrm>
            <a:off x="812800" y="5750322"/>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About 30 checks ready to use · no setup · bonus: </a:t>
            </a:r>
            <a:r>
              <a:rPr lang="en-US" sz="1400" dirty="0">
                <a:solidFill>
                  <a:srgbClr val="A65F00"/>
                </a:solidFill>
                <a:latin typeface="IBM Plex Sans" pitchFamily="34" charset="0"/>
                <a:ea typeface="IBM Plex Sans" pitchFamily="34" charset="-122"/>
                <a:cs typeface="IBM Plex Sans" pitchFamily="34" charset="-120"/>
              </a:rPr>
              <a:t>polaris fix</a:t>
            </a:r>
            <a:r>
              <a:rPr lang="en-US" sz="1400" dirty="0">
                <a:solidFill>
                  <a:srgbClr val="3D4A5C"/>
                </a:solidFill>
                <a:latin typeface="IBM Plex Sans" pitchFamily="34" charset="0"/>
                <a:ea typeface="IBM Plex Sans" pitchFamily="34" charset="-122"/>
                <a:cs typeface="IBM Plex Sans" pitchFamily="34" charset="-120"/>
              </a:rPr>
              <a:t> can fix some problems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65F00"/>
                </a:solidFill>
                <a:latin typeface="JetBrains Mono" pitchFamily="49" charset="0"/>
                <a:ea typeface="JetBrains Mono" pitchFamily="49" charset="-122"/>
                <a:cs typeface="JetBrains Mono" pitchFamily="49" charset="-120"/>
              </a:rPr>
              <a:t>HOW CHECKS ARE ORGANIZED</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F"/>
                </a:solidFill>
                <a:latin typeface="IBM Plex Sans" pitchFamily="34" charset="0"/>
                <a:ea typeface="IBM Plex Sans" pitchFamily="34" charset="-122"/>
                <a:cs typeface="IBM Plex Sans" pitchFamily="34" charset="-120"/>
              </a:rPr>
              <a:t>3 groups · 3 levels · 1 score</a:t>
            </a:r>
            <a:endParaRPr lang="en-US" sz="3600" dirty="0"/>
          </a:p>
        </p:txBody>
      </p:sp>
      <p:sp>
        <p:nvSpPr>
          <p:cNvPr id="4" name="Shape 2"/>
          <p:cNvSpPr/>
          <p:nvPr/>
        </p:nvSpPr>
        <p:spPr>
          <a:xfrm>
            <a:off x="819150" y="1941778"/>
            <a:ext cx="3373967" cy="1902354"/>
          </a:xfrm>
          <a:prstGeom prst="roundRect">
            <a:avLst>
              <a:gd name="adj" fmla="val 6342"/>
            </a:avLst>
          </a:prstGeom>
          <a:solidFill>
            <a:srgbClr val="FDFCF8"/>
          </a:solidFill>
          <a:ln w="12700">
            <a:solidFill>
              <a:srgbClr val="E2DED3"/>
            </a:solidFill>
            <a:prstDash val="solid"/>
          </a:ln>
        </p:spPr>
      </p:sp>
      <p:pic>
        <p:nvPicPr>
          <p:cNvPr id="5" name="Image 0" descr="Lock">    </p:cNvPr>
          <p:cNvPicPr>
            <a:picLocks noChangeAspect="1"/>
          </p:cNvPicPr>
          <p:nvPr/>
        </p:nvPicPr>
        <p:blipFill>
          <a:blip r:embed="rId1"/>
          <a:srcRect l="0" r="0" t="0" b="0"/>
          <a:stretch/>
        </p:blipFill>
        <p:spPr>
          <a:xfrm>
            <a:off x="1079500" y="2202128"/>
            <a:ext cx="304800" cy="304800"/>
          </a:xfrm>
          <a:prstGeom prst="rect">
            <a:avLst/>
          </a:prstGeom>
        </p:spPr>
      </p:pic>
      <p:sp>
        <p:nvSpPr>
          <p:cNvPr id="6" name="Text 3"/>
          <p:cNvSpPr/>
          <p:nvPr/>
        </p:nvSpPr>
        <p:spPr>
          <a:xfrm>
            <a:off x="1485900" y="2202128"/>
            <a:ext cx="119062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A3F"/>
                </a:solidFill>
                <a:latin typeface="IBM Plex Sans" pitchFamily="34" charset="0"/>
                <a:ea typeface="IBM Plex Sans" pitchFamily="34" charset="-122"/>
                <a:cs typeface="IBM Plex Sans" pitchFamily="34" charset="-120"/>
              </a:rPr>
              <a:t>Security</a:t>
            </a:r>
            <a:endParaRPr lang="en-US" sz="2000" dirty="0"/>
          </a:p>
        </p:txBody>
      </p:sp>
      <p:sp>
        <p:nvSpPr>
          <p:cNvPr id="7" name="Text 4"/>
          <p:cNvSpPr/>
          <p:nvPr/>
        </p:nvSpPr>
        <p:spPr>
          <a:xfrm>
            <a:off x="1079500" y="2608528"/>
            <a:ext cx="2938865" cy="1000654"/>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3D4A5C"/>
                </a:solidFill>
                <a:latin typeface="JetBrains Mono" pitchFamily="49" charset="0"/>
                <a:ea typeface="JetBrains Mono" pitchFamily="49" charset="-122"/>
                <a:cs typeface="JetBrains Mono" pitchFamily="49" charset="-120"/>
              </a:rPr>
              <a:t>runAsPrivileged</a:t>
            </a:r>
            <a:endParaRPr lang="en-US" sz="1200" dirty="0"/>
          </a:p>
          <a:p>
            <a:pPr algn="l" indent="0" marL="0">
              <a:lnSpc>
                <a:spcPts val="1920"/>
              </a:lnSpc>
              <a:buNone/>
            </a:pPr>
            <a:r>
              <a:rPr lang="en-US" sz="1200" dirty="0">
                <a:solidFill>
                  <a:srgbClr val="3D4A5C"/>
                </a:solidFill>
                <a:latin typeface="JetBrains Mono" pitchFamily="49" charset="0"/>
                <a:ea typeface="JetBrains Mono" pitchFamily="49" charset="-122"/>
                <a:cs typeface="JetBrains Mono" pitchFamily="49" charset="-120"/>
              </a:rPr>
              <a:t>runAsRootAllowed</a:t>
            </a:r>
            <a:endParaRPr lang="en-US" sz="1200" dirty="0"/>
          </a:p>
          <a:p>
            <a:pPr algn="l" indent="0" marL="0">
              <a:lnSpc>
                <a:spcPts val="1920"/>
              </a:lnSpc>
              <a:buNone/>
            </a:pPr>
            <a:r>
              <a:rPr lang="en-US" sz="1200" dirty="0">
                <a:solidFill>
                  <a:srgbClr val="3D4A5C"/>
                </a:solidFill>
                <a:latin typeface="JetBrains Mono" pitchFamily="49" charset="0"/>
                <a:ea typeface="JetBrains Mono" pitchFamily="49" charset="-122"/>
                <a:cs typeface="JetBrains Mono" pitchFamily="49" charset="-120"/>
              </a:rPr>
              <a:t>hostNetworkSet</a:t>
            </a:r>
            <a:endParaRPr lang="en-US" sz="1200" dirty="0"/>
          </a:p>
          <a:p>
            <a:pPr algn="l" indent="0" marL="0">
              <a:lnSpc>
                <a:spcPts val="1920"/>
              </a:lnSpc>
              <a:buNone/>
            </a:pPr>
            <a:r>
              <a:rPr lang="en-US" sz="1200" dirty="0">
                <a:solidFill>
                  <a:srgbClr val="3D4A5C"/>
                </a:solidFill>
                <a:latin typeface="JetBrains Mono" pitchFamily="49" charset="0"/>
                <a:ea typeface="JetBrains Mono" pitchFamily="49" charset="-122"/>
                <a:cs typeface="JetBrains Mono" pitchFamily="49" charset="-120"/>
              </a:rPr>
              <a:t>dangerousCapabilities</a:t>
            </a:r>
            <a:endParaRPr lang="en-US" sz="1200" dirty="0"/>
          </a:p>
        </p:txBody>
      </p:sp>
      <p:sp>
        <p:nvSpPr>
          <p:cNvPr id="8" name="Shape 5"/>
          <p:cNvSpPr/>
          <p:nvPr/>
        </p:nvSpPr>
        <p:spPr>
          <a:xfrm>
            <a:off x="4409017" y="1941778"/>
            <a:ext cx="3373967" cy="1902354"/>
          </a:xfrm>
          <a:prstGeom prst="roundRect">
            <a:avLst>
              <a:gd name="adj" fmla="val 6342"/>
            </a:avLst>
          </a:prstGeom>
          <a:solidFill>
            <a:srgbClr val="FDFCF8"/>
          </a:solidFill>
          <a:ln w="12700">
            <a:solidFill>
              <a:srgbClr val="E2DED3"/>
            </a:solidFill>
            <a:prstDash val="solid"/>
          </a:ln>
        </p:spPr>
      </p:sp>
      <p:pic>
        <p:nvPicPr>
          <p:cNvPr id="9" name="Image 1" descr="Lightning">    </p:cNvPr>
          <p:cNvPicPr>
            <a:picLocks noChangeAspect="1"/>
          </p:cNvPicPr>
          <p:nvPr/>
        </p:nvPicPr>
        <p:blipFill>
          <a:blip r:embed="rId2"/>
          <a:srcRect l="0" r="0" t="0" b="0"/>
          <a:stretch/>
        </p:blipFill>
        <p:spPr>
          <a:xfrm>
            <a:off x="4669367" y="2202128"/>
            <a:ext cx="304800" cy="304800"/>
          </a:xfrm>
          <a:prstGeom prst="rect">
            <a:avLst/>
          </a:prstGeom>
        </p:spPr>
      </p:pic>
      <p:sp>
        <p:nvSpPr>
          <p:cNvPr id="10" name="Text 6"/>
          <p:cNvSpPr/>
          <p:nvPr/>
        </p:nvSpPr>
        <p:spPr>
          <a:xfrm>
            <a:off x="5075767" y="2202128"/>
            <a:ext cx="141160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A3F"/>
                </a:solidFill>
                <a:latin typeface="IBM Plex Sans" pitchFamily="34" charset="0"/>
                <a:ea typeface="IBM Plex Sans" pitchFamily="34" charset="-122"/>
                <a:cs typeface="IBM Plex Sans" pitchFamily="34" charset="-120"/>
              </a:rPr>
              <a:t>Efficiency</a:t>
            </a:r>
            <a:endParaRPr lang="en-US" sz="2000" dirty="0"/>
          </a:p>
        </p:txBody>
      </p:sp>
      <p:sp>
        <p:nvSpPr>
          <p:cNvPr id="11" name="Text 7"/>
          <p:cNvSpPr/>
          <p:nvPr/>
        </p:nvSpPr>
        <p:spPr>
          <a:xfrm>
            <a:off x="4669367" y="2608528"/>
            <a:ext cx="2938865" cy="1000654"/>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3D4A5C"/>
                </a:solidFill>
                <a:latin typeface="JetBrains Mono" pitchFamily="49" charset="0"/>
                <a:ea typeface="JetBrains Mono" pitchFamily="49" charset="-122"/>
                <a:cs typeface="JetBrains Mono" pitchFamily="49" charset="-120"/>
              </a:rPr>
              <a:t>cpuRequestsMissing</a:t>
            </a:r>
            <a:endParaRPr lang="en-US" sz="1200" dirty="0"/>
          </a:p>
          <a:p>
            <a:pPr algn="l" indent="0" marL="0">
              <a:lnSpc>
                <a:spcPts val="1920"/>
              </a:lnSpc>
              <a:buNone/>
            </a:pPr>
            <a:r>
              <a:rPr lang="en-US" sz="1200" dirty="0">
                <a:solidFill>
                  <a:srgbClr val="3D4A5C"/>
                </a:solidFill>
                <a:latin typeface="JetBrains Mono" pitchFamily="49" charset="0"/>
                <a:ea typeface="JetBrains Mono" pitchFamily="49" charset="-122"/>
                <a:cs typeface="JetBrains Mono" pitchFamily="49" charset="-120"/>
              </a:rPr>
              <a:t>memoryRequestsMissing</a:t>
            </a:r>
            <a:endParaRPr lang="en-US" sz="1200" dirty="0"/>
          </a:p>
          <a:p>
            <a:pPr algn="l" indent="0" marL="0">
              <a:lnSpc>
                <a:spcPts val="1920"/>
              </a:lnSpc>
              <a:buNone/>
            </a:pPr>
            <a:r>
              <a:rPr lang="en-US" sz="1200" dirty="0">
                <a:solidFill>
                  <a:srgbClr val="3D4A5C"/>
                </a:solidFill>
                <a:latin typeface="JetBrains Mono" pitchFamily="49" charset="0"/>
                <a:ea typeface="JetBrains Mono" pitchFamily="49" charset="-122"/>
                <a:cs typeface="JetBrains Mono" pitchFamily="49" charset="-120"/>
              </a:rPr>
              <a:t>cpuLimitsMissing</a:t>
            </a:r>
            <a:endParaRPr lang="en-US" sz="1200" dirty="0"/>
          </a:p>
          <a:p>
            <a:pPr algn="l" indent="0" marL="0">
              <a:lnSpc>
                <a:spcPts val="1920"/>
              </a:lnSpc>
              <a:buNone/>
            </a:pPr>
            <a:r>
              <a:rPr lang="en-US" sz="1200" dirty="0">
                <a:solidFill>
                  <a:srgbClr val="3D4A5C"/>
                </a:solidFill>
                <a:latin typeface="JetBrains Mono" pitchFamily="49" charset="0"/>
                <a:ea typeface="JetBrains Mono" pitchFamily="49" charset="-122"/>
                <a:cs typeface="JetBrains Mono" pitchFamily="49" charset="-120"/>
              </a:rPr>
              <a:t>memoryLimitsMissing</a:t>
            </a:r>
            <a:endParaRPr lang="en-US" sz="1200" dirty="0"/>
          </a:p>
        </p:txBody>
      </p:sp>
      <p:sp>
        <p:nvSpPr>
          <p:cNvPr id="12" name="Shape 8"/>
          <p:cNvSpPr/>
          <p:nvPr/>
        </p:nvSpPr>
        <p:spPr>
          <a:xfrm>
            <a:off x="7998884" y="1941778"/>
            <a:ext cx="3373967" cy="1902354"/>
          </a:xfrm>
          <a:prstGeom prst="roundRect">
            <a:avLst>
              <a:gd name="adj" fmla="val 6342"/>
            </a:avLst>
          </a:prstGeom>
          <a:solidFill>
            <a:srgbClr val="FDFCF8"/>
          </a:solidFill>
          <a:ln w="12700">
            <a:solidFill>
              <a:srgbClr val="E2DED3"/>
            </a:solidFill>
            <a:prstDash val="solid"/>
          </a:ln>
        </p:spPr>
      </p:sp>
      <p:pic>
        <p:nvPicPr>
          <p:cNvPr id="13" name="Image 2" descr="Verified">    </p:cNvPr>
          <p:cNvPicPr>
            <a:picLocks noChangeAspect="1"/>
          </p:cNvPicPr>
          <p:nvPr/>
        </p:nvPicPr>
        <p:blipFill>
          <a:blip r:embed="rId3"/>
          <a:srcRect l="0" r="0" t="0" b="0"/>
          <a:stretch/>
        </p:blipFill>
        <p:spPr>
          <a:xfrm>
            <a:off x="8259234" y="2202128"/>
            <a:ext cx="304800" cy="304800"/>
          </a:xfrm>
          <a:prstGeom prst="rect">
            <a:avLst/>
          </a:prstGeom>
        </p:spPr>
      </p:pic>
      <p:sp>
        <p:nvSpPr>
          <p:cNvPr id="14" name="Text 9"/>
          <p:cNvSpPr/>
          <p:nvPr/>
        </p:nvSpPr>
        <p:spPr>
          <a:xfrm>
            <a:off x="8665634" y="2202128"/>
            <a:ext cx="145669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B2A3F"/>
                </a:solidFill>
                <a:latin typeface="IBM Plex Sans" pitchFamily="34" charset="0"/>
                <a:ea typeface="IBM Plex Sans" pitchFamily="34" charset="-122"/>
                <a:cs typeface="IBM Plex Sans" pitchFamily="34" charset="-120"/>
              </a:rPr>
              <a:t>Reliability</a:t>
            </a:r>
            <a:endParaRPr lang="en-US" sz="2000" dirty="0"/>
          </a:p>
        </p:txBody>
      </p:sp>
      <p:sp>
        <p:nvSpPr>
          <p:cNvPr id="15" name="Text 10"/>
          <p:cNvSpPr/>
          <p:nvPr/>
        </p:nvSpPr>
        <p:spPr>
          <a:xfrm>
            <a:off x="8259234" y="2608528"/>
            <a:ext cx="2938865" cy="1000654"/>
          </a:xfrm>
          <a:prstGeom prst="rect">
            <a:avLst/>
          </a:prstGeom>
          <a:noFill/>
          <a:ln/>
        </p:spPr>
        <p:txBody>
          <a:bodyPr wrap="square" lIns="0" tIns="0" rIns="0" bIns="0" rtlCol="0" anchor="t">
            <a:normAutofit/>
          </a:bodyPr>
          <a:lstStyle/>
          <a:p>
            <a:pPr algn="l" indent="0" marL="0">
              <a:lnSpc>
                <a:spcPts val="1920"/>
              </a:lnSpc>
              <a:buNone/>
            </a:pPr>
            <a:r>
              <a:rPr lang="en-US" sz="1200" dirty="0">
                <a:solidFill>
                  <a:srgbClr val="3D4A5C"/>
                </a:solidFill>
                <a:latin typeface="JetBrains Mono" pitchFamily="49" charset="0"/>
                <a:ea typeface="JetBrains Mono" pitchFamily="49" charset="-122"/>
                <a:cs typeface="JetBrains Mono" pitchFamily="49" charset="-120"/>
              </a:rPr>
              <a:t>readinessProbeMissing</a:t>
            </a:r>
            <a:endParaRPr lang="en-US" sz="1200" dirty="0"/>
          </a:p>
          <a:p>
            <a:pPr algn="l" indent="0" marL="0">
              <a:lnSpc>
                <a:spcPts val="1920"/>
              </a:lnSpc>
              <a:buNone/>
            </a:pPr>
            <a:r>
              <a:rPr lang="en-US" sz="1200" dirty="0">
                <a:solidFill>
                  <a:srgbClr val="3D4A5C"/>
                </a:solidFill>
                <a:latin typeface="JetBrains Mono" pitchFamily="49" charset="0"/>
                <a:ea typeface="JetBrains Mono" pitchFamily="49" charset="-122"/>
                <a:cs typeface="JetBrains Mono" pitchFamily="49" charset="-120"/>
              </a:rPr>
              <a:t>livenessProbeMissing</a:t>
            </a:r>
            <a:endParaRPr lang="en-US" sz="1200" dirty="0"/>
          </a:p>
          <a:p>
            <a:pPr algn="l" indent="0" marL="0">
              <a:lnSpc>
                <a:spcPts val="1920"/>
              </a:lnSpc>
              <a:buNone/>
            </a:pPr>
            <a:r>
              <a:rPr lang="en-US" sz="1200" dirty="0">
                <a:solidFill>
                  <a:srgbClr val="3D4A5C"/>
                </a:solidFill>
                <a:latin typeface="JetBrains Mono" pitchFamily="49" charset="0"/>
                <a:ea typeface="JetBrains Mono" pitchFamily="49" charset="-122"/>
                <a:cs typeface="JetBrains Mono" pitchFamily="49" charset="-120"/>
              </a:rPr>
              <a:t>tagNotSpecified</a:t>
            </a:r>
            <a:endParaRPr lang="en-US" sz="1200" dirty="0"/>
          </a:p>
          <a:p>
            <a:pPr algn="l" indent="0" marL="0">
              <a:lnSpc>
                <a:spcPts val="1920"/>
              </a:lnSpc>
              <a:buNone/>
            </a:pPr>
            <a:r>
              <a:rPr lang="en-US" sz="1200" dirty="0">
                <a:solidFill>
                  <a:srgbClr val="3D4A5C"/>
                </a:solidFill>
                <a:latin typeface="JetBrains Mono" pitchFamily="49" charset="0"/>
                <a:ea typeface="JetBrains Mono" pitchFamily="49" charset="-122"/>
                <a:cs typeface="JetBrains Mono" pitchFamily="49" charset="-120"/>
              </a:rPr>
              <a:t>deploymentMissingReplicas</a:t>
            </a:r>
            <a:endParaRPr lang="en-US" sz="1200" dirty="0"/>
          </a:p>
        </p:txBody>
      </p:sp>
      <p:sp>
        <p:nvSpPr>
          <p:cNvPr id="16" name="Text 11"/>
          <p:cNvSpPr/>
          <p:nvPr/>
        </p:nvSpPr>
        <p:spPr>
          <a:xfrm>
            <a:off x="812800" y="4467622"/>
            <a:ext cx="560943"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Level:</a:t>
            </a:r>
            <a:endParaRPr lang="en-US" sz="1400" dirty="0"/>
          </a:p>
        </p:txBody>
      </p:sp>
      <p:sp>
        <p:nvSpPr>
          <p:cNvPr id="17" name="Text 12"/>
          <p:cNvSpPr/>
          <p:nvPr/>
        </p:nvSpPr>
        <p:spPr>
          <a:xfrm>
            <a:off x="1381853" y="4425752"/>
            <a:ext cx="786408" cy="332714"/>
          </a:xfrm>
          <a:prstGeom prst="roundRect">
            <a:avLst>
              <a:gd name="adj" fmla="val 50000"/>
            </a:avLst>
          </a:prstGeom>
          <a:solidFill>
            <a:srgbClr val="E8E4D9"/>
          </a:solidFill>
          <a:ln/>
        </p:spPr>
        <p:txBody>
          <a:bodyPr wrap="none" lIns="0" tIns="0" rIns="0" bIns="0" rtlCol="0" anchor="ctr">
            <a:normAutofit/>
          </a:bodyPr>
          <a:lstStyle/>
          <a:p>
            <a:pPr algn="ctr" indent="0" marL="0">
              <a:lnSpc>
                <a:spcPts val="1820"/>
              </a:lnSpc>
              <a:buNone/>
            </a:pPr>
            <a:r>
              <a:rPr lang="en-US" sz="1300" b="1" dirty="0">
                <a:solidFill>
                  <a:srgbClr val="3D4A5C"/>
                </a:solidFill>
                <a:latin typeface="IBM Plex Sans" pitchFamily="34" charset="0"/>
                <a:ea typeface="IBM Plex Sans" pitchFamily="34" charset="-122"/>
                <a:cs typeface="IBM Plex Sans" pitchFamily="34" charset="-120"/>
              </a:rPr>
              <a:t>ignore</a:t>
            </a:r>
            <a:endParaRPr lang="en-US" sz="1300" dirty="0"/>
          </a:p>
        </p:txBody>
      </p:sp>
      <p:sp>
        <p:nvSpPr>
          <p:cNvPr id="18" name="Text 13"/>
          <p:cNvSpPr/>
          <p:nvPr/>
        </p:nvSpPr>
        <p:spPr>
          <a:xfrm>
            <a:off x="2269860" y="4425752"/>
            <a:ext cx="924719" cy="332714"/>
          </a:xfrm>
          <a:prstGeom prst="roundRect">
            <a:avLst>
              <a:gd name="adj" fmla="val 50000"/>
            </a:avLst>
          </a:prstGeom>
          <a:solidFill>
            <a:srgbClr val="F2C76E"/>
          </a:solidFill>
          <a:ln/>
        </p:spPr>
        <p:txBody>
          <a:bodyPr wrap="none" lIns="0" tIns="0" rIns="0" bIns="0" rtlCol="0" anchor="ctr">
            <a:normAutofit/>
          </a:bodyPr>
          <a:lstStyle/>
          <a:p>
            <a:pPr algn="ctr" indent="0" marL="0">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warning</a:t>
            </a:r>
            <a:endParaRPr lang="en-US" sz="1300" dirty="0"/>
          </a:p>
        </p:txBody>
      </p:sp>
      <p:sp>
        <p:nvSpPr>
          <p:cNvPr id="19" name="Text 14"/>
          <p:cNvSpPr/>
          <p:nvPr/>
        </p:nvSpPr>
        <p:spPr>
          <a:xfrm>
            <a:off x="3296179" y="4425752"/>
            <a:ext cx="839258" cy="332714"/>
          </a:xfrm>
          <a:prstGeom prst="roundRect">
            <a:avLst>
              <a:gd name="adj" fmla="val 50000"/>
            </a:avLst>
          </a:prstGeom>
          <a:solidFill>
            <a:srgbClr val="B8360F"/>
          </a:solidFill>
          <a:ln/>
        </p:spPr>
        <p:txBody>
          <a:bodyPr wrap="none" lIns="0" tIns="0" rIns="0" bIns="0" rtlCol="0" anchor="ctr">
            <a:normAutofit/>
          </a:bodyPr>
          <a:lstStyle/>
          <a:p>
            <a:pPr algn="ctr" indent="0" marL="0">
              <a:lnSpc>
                <a:spcPts val="1820"/>
              </a:lnSpc>
              <a:buNone/>
            </a:pPr>
            <a:r>
              <a:rPr lang="en-US" sz="1300" b="1" dirty="0">
                <a:solidFill>
                  <a:srgbClr val="F7F5EF"/>
                </a:solidFill>
                <a:latin typeface="IBM Plex Sans" pitchFamily="34" charset="0"/>
                <a:ea typeface="IBM Plex Sans" pitchFamily="34" charset="-122"/>
                <a:cs typeface="IBM Plex Sans" pitchFamily="34" charset="-120"/>
              </a:rPr>
              <a:t>danger</a:t>
            </a:r>
            <a:endParaRPr lang="en-US" sz="1300" dirty="0"/>
          </a:p>
        </p:txBody>
      </p:sp>
      <p:sp>
        <p:nvSpPr>
          <p:cNvPr id="20" name="Shape 15"/>
          <p:cNvSpPr/>
          <p:nvPr/>
        </p:nvSpPr>
        <p:spPr>
          <a:xfrm>
            <a:off x="5943600" y="4155281"/>
            <a:ext cx="5435600" cy="873720"/>
          </a:xfrm>
          <a:prstGeom prst="roundRect">
            <a:avLst>
              <a:gd name="adj" fmla="val 14536"/>
            </a:avLst>
          </a:prstGeom>
          <a:solidFill>
            <a:srgbClr val="13233A"/>
          </a:solidFill>
          <a:ln/>
        </p:spPr>
      </p:sp>
      <p:sp>
        <p:nvSpPr>
          <p:cNvPr id="21" name="Text 16"/>
          <p:cNvSpPr/>
          <p:nvPr/>
        </p:nvSpPr>
        <p:spPr>
          <a:xfrm>
            <a:off x="6197600" y="4307681"/>
            <a:ext cx="1366772" cy="594320"/>
          </a:xfrm>
          <a:prstGeom prst="rect">
            <a:avLst/>
          </a:prstGeom>
          <a:noFill/>
          <a:ln/>
        </p:spPr>
        <p:txBody>
          <a:bodyPr wrap="square" lIns="0" tIns="0" rIns="0" bIns="0" rtlCol="0" anchor="t">
            <a:normAutofit/>
          </a:bodyPr>
          <a:lstStyle/>
          <a:p>
            <a:pPr algn="l" indent="0" marL="0">
              <a:lnSpc>
                <a:spcPts val="4480"/>
              </a:lnSpc>
              <a:buNone/>
            </a:pPr>
            <a:r>
              <a:rPr lang="en-US" sz="3200" b="1" dirty="0">
                <a:solidFill>
                  <a:srgbClr val="F2A33A"/>
                </a:solidFill>
                <a:latin typeface="IBM Plex Sans" pitchFamily="34" charset="0"/>
                <a:ea typeface="IBM Plex Sans" pitchFamily="34" charset="-122"/>
                <a:cs typeface="IBM Plex Sans" pitchFamily="34" charset="-120"/>
              </a:rPr>
              <a:t>0–100</a:t>
            </a:r>
            <a:endParaRPr lang="en-US" sz="3200" dirty="0"/>
          </a:p>
        </p:txBody>
      </p:sp>
      <p:sp>
        <p:nvSpPr>
          <p:cNvPr id="22" name="Text 17"/>
          <p:cNvSpPr/>
          <p:nvPr/>
        </p:nvSpPr>
        <p:spPr>
          <a:xfrm>
            <a:off x="7564372" y="4476552"/>
            <a:ext cx="3421063" cy="256514"/>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9D3E0"/>
                </a:solidFill>
                <a:latin typeface="IBM Plex Sans" pitchFamily="34" charset="0"/>
                <a:ea typeface="IBM Plex Sans" pitchFamily="34" charset="-122"/>
                <a:cs typeface="IBM Plex Sans" pitchFamily="34" charset="-120"/>
              </a:rPr>
              <a:t>Go step by step: "no repo under 80"</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65F00"/>
                </a:solidFill>
                <a:latin typeface="JetBrains Mono" pitchFamily="49" charset="0"/>
                <a:ea typeface="JetBrains Mono" pitchFamily="49" charset="-122"/>
                <a:cs typeface="JetBrains Mono" pitchFamily="49" charset="-120"/>
              </a:rPr>
              <a:t>EXAMPLE 1</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F"/>
                </a:solidFill>
                <a:latin typeface="IBM Plex Sans" pitchFamily="34" charset="0"/>
                <a:ea typeface="IBM Plex Sans" pitchFamily="34" charset="-122"/>
                <a:cs typeface="IBM Plex Sans" pitchFamily="34" charset="-120"/>
              </a:rPr>
              <a:t>A "first commit" Deployment</a:t>
            </a:r>
            <a:endParaRPr lang="en-US" sz="3600" dirty="0"/>
          </a:p>
        </p:txBody>
      </p:sp>
      <p:sp>
        <p:nvSpPr>
          <p:cNvPr id="4" name="Text 2"/>
          <p:cNvSpPr/>
          <p:nvPr/>
        </p:nvSpPr>
        <p:spPr>
          <a:xfrm>
            <a:off x="812800" y="1935429"/>
            <a:ext cx="5818915" cy="3727450"/>
          </a:xfrm>
          <a:prstGeom prst="roundRect">
            <a:avLst>
              <a:gd name="adj" fmla="val 3407"/>
            </a:avLst>
          </a:prstGeom>
          <a:solidFill>
            <a:srgbClr val="13233A"/>
          </a:solidFill>
          <a:ln/>
        </p:spPr>
        <p:txBody>
          <a:bodyPr wrap="square" lIns="267603" tIns="216803" rIns="111324" bIns="191403" rtlCol="0" anchor="t">
            <a:normAutofit/>
          </a:bodyPr>
          <a:lstStyle/>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spec:</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replicas: 1</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template:</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spec:</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hostNetwork: true</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containers:</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 name: api</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image: nginx:latest</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securityContext:</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privileged: true</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allowPrivilegeEscalation: true</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capabilities:</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add: ["NET_ADMIN", "SYS_ADMIN"]</a:t>
            </a:r>
            <a:endParaRPr lang="en-US" sz="1300" dirty="0"/>
          </a:p>
        </p:txBody>
      </p:sp>
      <p:sp>
        <p:nvSpPr>
          <p:cNvPr id="5" name="Text 3"/>
          <p:cNvSpPr/>
          <p:nvPr/>
        </p:nvSpPr>
        <p:spPr>
          <a:xfrm>
            <a:off x="7038115" y="1935429"/>
            <a:ext cx="4471318" cy="843227"/>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1B2A3F"/>
                </a:solidFill>
                <a:latin typeface="IBM Plex Sans" pitchFamily="34" charset="0"/>
                <a:ea typeface="IBM Plex Sans" pitchFamily="34" charset="-122"/>
                <a:cs typeface="IBM Plex Sans" pitchFamily="34" charset="-120"/>
              </a:rPr>
              <a:t>How many problems can you see?</a:t>
            </a:r>
            <a:endParaRPr lang="en-US" sz="2800" dirty="0"/>
          </a:p>
        </p:txBody>
      </p:sp>
      <p:sp>
        <p:nvSpPr>
          <p:cNvPr id="6" name="Text 4"/>
          <p:cNvSpPr/>
          <p:nvPr/>
        </p:nvSpPr>
        <p:spPr>
          <a:xfrm>
            <a:off x="7038115" y="3007255"/>
            <a:ext cx="4471318"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IBM Plex Sans" pitchFamily="34" charset="0"/>
                <a:ea typeface="IBM Plex Sans" pitchFamily="34" charset="-122"/>
                <a:cs typeface="IBM Plex Sans" pitchFamily="34" charset="-120"/>
              </a:rPr>
              <a:t>kubectl apply works. The Pod runs. Kubernetes says nothing.</a:t>
            </a:r>
            <a:endParaRPr lang="en-US" sz="1600" dirty="0"/>
          </a:p>
        </p:txBody>
      </p:sp>
      <p:sp>
        <p:nvSpPr>
          <p:cNvPr id="7" name="Text 5"/>
          <p:cNvSpPr/>
          <p:nvPr/>
        </p:nvSpPr>
        <p:spPr>
          <a:xfrm>
            <a:off x="7038115" y="3830110"/>
            <a:ext cx="4341085" cy="1041400"/>
          </a:xfrm>
          <a:prstGeom prst="roundRect">
            <a:avLst>
              <a:gd name="adj" fmla="val 9756"/>
            </a:avLst>
          </a:prstGeom>
          <a:solidFill>
            <a:srgbClr val="E8E4D9"/>
          </a:solidFill>
          <a:ln/>
        </p:spPr>
        <p:txBody>
          <a:bodyPr wrap="square" lIns="173442" tIns="148042" rIns="55402" bIns="122642" rtlCol="0" anchor="t">
            <a:normAutofit/>
          </a:bodyPr>
          <a:lstStyle/>
          <a:p>
            <a:pPr algn="l" indent="0" marL="0">
              <a:lnSpc>
                <a:spcPts val="1800"/>
              </a:lnSpc>
              <a:buNone/>
            </a:pPr>
            <a:r>
              <a:rPr lang="en-US" sz="1200" dirty="0">
                <a:solidFill>
                  <a:srgbClr val="1B2A3F"/>
                </a:solidFill>
                <a:latin typeface="JetBrains Mono" pitchFamily="49" charset="0"/>
                <a:ea typeface="JetBrains Mono" pitchFamily="49" charset="-122"/>
                <a:cs typeface="JetBrains Mono" pitchFamily="49" charset="-120"/>
              </a:rPr>
              <a:t>$ polaris audit \</a:t>
            </a:r>
            <a:endParaRPr lang="en-US" sz="1200" dirty="0"/>
          </a:p>
          <a:p>
            <a:pPr algn="l" indent="0" marL="0">
              <a:lnSpc>
                <a:spcPts val="1800"/>
              </a:lnSpc>
              <a:buNone/>
            </a:pPr>
            <a:r>
              <a:rPr lang="en-US" sz="1200" dirty="0">
                <a:solidFill>
                  <a:srgbClr val="1B2A3F"/>
                </a:solidFill>
                <a:latin typeface="JetBrains Mono" pitchFamily="49" charset="0"/>
                <a:ea typeface="JetBrains Mono" pitchFamily="49" charset="-122"/>
                <a:cs typeface="JetBrains Mono" pitchFamily="49" charset="-120"/>
              </a:rPr>
              <a:t>  --audit-path examples/bad \</a:t>
            </a:r>
            <a:endParaRPr lang="en-US" sz="1200" dirty="0"/>
          </a:p>
          <a:p>
            <a:pPr algn="l" indent="0" marL="0">
              <a:lnSpc>
                <a:spcPts val="1800"/>
              </a:lnSpc>
              <a:buNone/>
            </a:pPr>
            <a:r>
              <a:rPr lang="en-US" sz="1200" dirty="0">
                <a:solidFill>
                  <a:srgbClr val="1B2A3F"/>
                </a:solidFill>
                <a:latin typeface="JetBrains Mono" pitchFamily="49" charset="0"/>
                <a:ea typeface="JetBrains Mono" pitchFamily="49" charset="-122"/>
                <a:cs typeface="JetBrains Mono" pitchFamily="49" charset="-120"/>
              </a:rPr>
              <a:t>  --format pretty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65F00"/>
                </a:solidFill>
                <a:latin typeface="JetBrains Mono" pitchFamily="49" charset="0"/>
                <a:ea typeface="JetBrains Mono" pitchFamily="49" charset="-122"/>
                <a:cs typeface="JetBrains Mono" pitchFamily="49" charset="-120"/>
              </a:rPr>
              <a:t>EXAMPLE 1 · THE RESULT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F"/>
                </a:solidFill>
                <a:latin typeface="IBM Plex Sans" pitchFamily="34" charset="0"/>
                <a:ea typeface="IBM Plex Sans" pitchFamily="34" charset="-122"/>
                <a:cs typeface="IBM Plex Sans" pitchFamily="34" charset="-120"/>
              </a:rPr>
              <a:t>24 problems in 15 lines of YAML</a:t>
            </a:r>
            <a:endParaRPr lang="en-US" sz="3600" dirty="0"/>
          </a:p>
        </p:txBody>
      </p:sp>
      <p:sp>
        <p:nvSpPr>
          <p:cNvPr id="4" name="Shape 2"/>
          <p:cNvSpPr/>
          <p:nvPr/>
        </p:nvSpPr>
        <p:spPr>
          <a:xfrm>
            <a:off x="812800" y="1935429"/>
            <a:ext cx="4104614" cy="1714434"/>
          </a:xfrm>
          <a:prstGeom prst="roundRect">
            <a:avLst>
              <a:gd name="adj" fmla="val 7408"/>
            </a:avLst>
          </a:prstGeom>
          <a:solidFill>
            <a:srgbClr val="13233A"/>
          </a:solidFill>
          <a:ln/>
        </p:spPr>
      </p:sp>
      <p:sp>
        <p:nvSpPr>
          <p:cNvPr id="5" name="Text 3"/>
          <p:cNvSpPr/>
          <p:nvPr/>
        </p:nvSpPr>
        <p:spPr>
          <a:xfrm>
            <a:off x="1117600" y="2138629"/>
            <a:ext cx="359986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9D3E0"/>
                </a:solidFill>
                <a:latin typeface="IBM Plex Sans" pitchFamily="34" charset="0"/>
                <a:ea typeface="IBM Plex Sans" pitchFamily="34" charset="-122"/>
                <a:cs typeface="IBM Plex Sans" pitchFamily="34" charset="-120"/>
              </a:rPr>
              <a:t>BEFORE</a:t>
            </a:r>
            <a:endParaRPr lang="en-US" sz="1200" dirty="0"/>
          </a:p>
        </p:txBody>
      </p:sp>
      <p:sp>
        <p:nvSpPr>
          <p:cNvPr id="6" name="Text 4"/>
          <p:cNvSpPr/>
          <p:nvPr/>
        </p:nvSpPr>
        <p:spPr>
          <a:xfrm>
            <a:off x="1117600" y="2402749"/>
            <a:ext cx="3599864"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F28B5B"/>
                </a:solidFill>
                <a:latin typeface="IBM Plex Sans" pitchFamily="34" charset="0"/>
                <a:ea typeface="IBM Plex Sans" pitchFamily="34" charset="-122"/>
                <a:cs typeface="IBM Plex Sans" pitchFamily="34" charset="-120"/>
              </a:rPr>
              <a:t>35</a:t>
            </a:r>
            <a:endParaRPr lang="en-US" sz="6000" dirty="0"/>
          </a:p>
        </p:txBody>
      </p:sp>
      <p:sp>
        <p:nvSpPr>
          <p:cNvPr id="7" name="Text 5"/>
          <p:cNvSpPr/>
          <p:nvPr/>
        </p:nvSpPr>
        <p:spPr>
          <a:xfrm>
            <a:off x="1117600" y="3215549"/>
            <a:ext cx="359986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6 danger · 18 warnings</a:t>
            </a:r>
            <a:endParaRPr lang="en-US" sz="1300" dirty="0"/>
          </a:p>
        </p:txBody>
      </p:sp>
      <p:sp>
        <p:nvSpPr>
          <p:cNvPr id="8" name="Shape 6"/>
          <p:cNvSpPr/>
          <p:nvPr/>
        </p:nvSpPr>
        <p:spPr>
          <a:xfrm>
            <a:off x="819150" y="3808611"/>
            <a:ext cx="4091914" cy="1727134"/>
          </a:xfrm>
          <a:prstGeom prst="roundRect">
            <a:avLst>
              <a:gd name="adj" fmla="val 6986"/>
            </a:avLst>
          </a:prstGeom>
          <a:solidFill>
            <a:srgbClr val="FDFCF8"/>
          </a:solidFill>
          <a:ln w="12700">
            <a:solidFill>
              <a:srgbClr val="2F6FEB"/>
            </a:solidFill>
            <a:prstDash val="solid"/>
          </a:ln>
        </p:spPr>
      </p:sp>
      <p:sp>
        <p:nvSpPr>
          <p:cNvPr id="9" name="Text 7"/>
          <p:cNvSpPr/>
          <p:nvPr/>
        </p:nvSpPr>
        <p:spPr>
          <a:xfrm>
            <a:off x="1130300" y="4018161"/>
            <a:ext cx="357370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D4A5C"/>
                </a:solidFill>
                <a:latin typeface="IBM Plex Sans" pitchFamily="34" charset="0"/>
                <a:ea typeface="IBM Plex Sans" pitchFamily="34" charset="-122"/>
                <a:cs typeface="IBM Plex Sans" pitchFamily="34" charset="-120"/>
              </a:rPr>
              <a:t>AFTER THE FIX</a:t>
            </a:r>
            <a:endParaRPr lang="en-US" sz="1200" dirty="0"/>
          </a:p>
        </p:txBody>
      </p:sp>
      <p:sp>
        <p:nvSpPr>
          <p:cNvPr id="10" name="Text 8"/>
          <p:cNvSpPr/>
          <p:nvPr/>
        </p:nvSpPr>
        <p:spPr>
          <a:xfrm>
            <a:off x="1130300" y="4282281"/>
            <a:ext cx="357370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2F6FEB"/>
                </a:solidFill>
                <a:latin typeface="IBM Plex Sans" pitchFamily="34" charset="0"/>
                <a:ea typeface="IBM Plex Sans" pitchFamily="34" charset="-122"/>
                <a:cs typeface="IBM Plex Sans" pitchFamily="34" charset="-120"/>
              </a:rPr>
              <a:t>100</a:t>
            </a:r>
            <a:endParaRPr lang="en-US" sz="6000" dirty="0"/>
          </a:p>
        </p:txBody>
      </p:sp>
      <p:sp>
        <p:nvSpPr>
          <p:cNvPr id="11" name="Text 9"/>
          <p:cNvSpPr/>
          <p:nvPr/>
        </p:nvSpPr>
        <p:spPr>
          <a:xfrm>
            <a:off x="1130300" y="5095081"/>
            <a:ext cx="357370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0 problems</a:t>
            </a:r>
            <a:endParaRPr lang="en-US" sz="1300" dirty="0"/>
          </a:p>
        </p:txBody>
      </p:sp>
      <p:sp>
        <p:nvSpPr>
          <p:cNvPr id="12" name="Text 10"/>
          <p:cNvSpPr/>
          <p:nvPr/>
        </p:nvSpPr>
        <p:spPr>
          <a:xfrm>
            <a:off x="5222214" y="1935429"/>
            <a:ext cx="6341696"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2A3F"/>
                </a:solidFill>
                <a:latin typeface="IBM Plex Sans" pitchFamily="34" charset="0"/>
                <a:ea typeface="IBM Plex Sans" pitchFamily="34" charset="-122"/>
                <a:cs typeface="IBM Plex Sans" pitchFamily="34" charset="-120"/>
              </a:rPr>
              <a:t>6 danger problems: the PR is blocked (exit code 3)</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234914" y="2324035"/>
          <a:ext cx="6144287" cy="2515129"/>
        </p:xfrm>
        <a:graphic>
          <a:graphicData uri="http://schemas.openxmlformats.org/drawingml/2006/table">
            <a:tbl>
              <a:tblPr/>
              <a:tblGrid>
                <a:gridCol w="3563686"/>
                <a:gridCol w="2580600"/>
              </a:tblGrid>
              <a:tr h="359304">
                <a:tc>
                  <a:txBody>
                    <a:bodyPr/>
                    <a:lstStyle/>
                    <a:p>
                      <a:pPr indent="0" marL="0">
                        <a:lnSpc>
                          <a:spcPts val="1820"/>
                        </a:lnSpc>
                        <a:buNone/>
                      </a:pPr>
                      <a:r>
                        <a:rPr lang="en-US" sz="1300" b="1" dirty="0">
                          <a:solidFill>
                            <a:srgbClr val="1B2A3F"/>
                          </a:solidFill>
                          <a:latin typeface="IBM Plex Sans" pitchFamily="34" charset="0"/>
                          <a:ea typeface="IBM Plex Sans" pitchFamily="34" charset="-122"/>
                          <a:cs typeface="IBM Plex Sans" pitchFamily="34" charset="-120"/>
                        </a:rPr>
                        <a:t>Check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B9B6AD"/>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9B6AD"/>
                      </a:solidFill>
                      <a:prstDash val="solid"/>
                      <a:round/>
                      <a:headEnd type="none" w="med" len="med"/>
                      <a:tailEnd type="none" w="med" len="med"/>
                    </a:lnB>
                    <a:solidFill>
                      <a:srgbClr val="E8E4D9"/>
                    </a:solidFill>
                  </a:tcPr>
                </a:tc>
                <a:tc>
                  <a:txBody>
                    <a:bodyPr/>
                    <a:lstStyle/>
                    <a:p>
                      <a:pPr indent="0" marL="0">
                        <a:lnSpc>
                          <a:spcPts val="1820"/>
                        </a:lnSpc>
                        <a:buNone/>
                      </a:pPr>
                      <a:r>
                        <a:rPr lang="en-US" sz="1300" b="1" dirty="0">
                          <a:solidFill>
                            <a:srgbClr val="1B2A3F"/>
                          </a:solidFill>
                          <a:latin typeface="IBM Plex Sans" pitchFamily="34" charset="0"/>
                          <a:ea typeface="IBM Plex Sans" pitchFamily="34" charset="-122"/>
                          <a:cs typeface="IBM Plex Sans" pitchFamily="34" charset="-120"/>
                        </a:rPr>
                        <a:t>Category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9B6AD"/>
                      </a:solidFill>
                      <a:prstDash val="solid"/>
                      <a:round/>
                      <a:headEnd type="none" w="med" len="med"/>
                      <a:tailEnd type="none" w="med" len="med"/>
                    </a:lnL>
                    <a:lnR w="12700" cap="flat" cmpd="sng" algn="ctr">
                      <a:solidFill>
                        <a:srgbClr val="B9B6AD"/>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9B6AD"/>
                      </a:solidFill>
                      <a:prstDash val="solid"/>
                      <a:round/>
                      <a:headEnd type="none" w="med" len="med"/>
                      <a:tailEnd type="none" w="med" len="med"/>
                    </a:lnB>
                    <a:solidFill>
                      <a:srgbClr val="E8E4D9"/>
                    </a:solidFill>
                  </a:tcPr>
                </a:tc>
              </a:tr>
              <a:tr h="359304">
                <a:tc>
                  <a:txBody>
                    <a:bodyPr/>
                    <a:lstStyle/>
                    <a:p>
                      <a:pPr indent="0" marL="0">
                        <a:lnSpc>
                          <a:spcPts val="1820"/>
                        </a:lnSpc>
                        <a:buNone/>
                      </a:pPr>
                      <a:r>
                        <a:rPr lang="en-US" sz="1300" dirty="0">
                          <a:solidFill>
                            <a:srgbClr val="1B2A3F"/>
                          </a:solidFill>
                          <a:latin typeface="IBM Plex Sans" pitchFamily="34" charset="0"/>
                          <a:ea typeface="IBM Plex Sans" pitchFamily="34" charset="-122"/>
                          <a:cs typeface="IBM Plex Sans" pitchFamily="34" charset="-120"/>
                        </a:rPr>
                        <a:t>hostNetworkSet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9B6AD"/>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B2A3F"/>
                          </a:solidFill>
                          <a:latin typeface="IBM Plex Sans" pitchFamily="34" charset="0"/>
                          <a:ea typeface="IBM Plex Sans" pitchFamily="34" charset="-122"/>
                          <a:cs typeface="IBM Plex Sans" pitchFamily="34" charset="-120"/>
                        </a:rPr>
                        <a:t>Security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9B6AD"/>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A3F"/>
                          </a:solidFill>
                          <a:latin typeface="IBM Plex Sans" pitchFamily="34" charset="0"/>
                          <a:ea typeface="IBM Plex Sans" pitchFamily="34" charset="-122"/>
                          <a:cs typeface="IBM Plex Sans" pitchFamily="34" charset="-120"/>
                        </a:rPr>
                        <a:t>runAsPrivileged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B2A3F"/>
                          </a:solidFill>
                          <a:latin typeface="IBM Plex Sans" pitchFamily="34" charset="0"/>
                          <a:ea typeface="IBM Plex Sans" pitchFamily="34" charset="-122"/>
                          <a:cs typeface="IBM Plex Sans" pitchFamily="34" charset="-120"/>
                        </a:rPr>
                        <a:t>Security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A3F"/>
                          </a:solidFill>
                          <a:latin typeface="IBM Plex Sans" pitchFamily="34" charset="0"/>
                          <a:ea typeface="IBM Plex Sans" pitchFamily="34" charset="-122"/>
                          <a:cs typeface="IBM Plex Sans" pitchFamily="34" charset="-120"/>
                        </a:rPr>
                        <a:t>runAsRootAllowed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B2A3F"/>
                          </a:solidFill>
                          <a:latin typeface="IBM Plex Sans" pitchFamily="34" charset="0"/>
                          <a:ea typeface="IBM Plex Sans" pitchFamily="34" charset="-122"/>
                          <a:cs typeface="IBM Plex Sans" pitchFamily="34" charset="-120"/>
                        </a:rPr>
                        <a:t>Security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A3F"/>
                          </a:solidFill>
                          <a:latin typeface="IBM Plex Sans" pitchFamily="34" charset="0"/>
                          <a:ea typeface="IBM Plex Sans" pitchFamily="34" charset="-122"/>
                          <a:cs typeface="IBM Plex Sans" pitchFamily="34" charset="-120"/>
                        </a:rPr>
                        <a:t>privilegeEscalationAllowed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B2A3F"/>
                          </a:solidFill>
                          <a:latin typeface="IBM Plex Sans" pitchFamily="34" charset="0"/>
                          <a:ea typeface="IBM Plex Sans" pitchFamily="34" charset="-122"/>
                          <a:cs typeface="IBM Plex Sans" pitchFamily="34" charset="-120"/>
                        </a:rPr>
                        <a:t>Security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A3F"/>
                          </a:solidFill>
                          <a:latin typeface="IBM Plex Sans" pitchFamily="34" charset="0"/>
                          <a:ea typeface="IBM Plex Sans" pitchFamily="34" charset="-122"/>
                          <a:cs typeface="IBM Plex Sans" pitchFamily="34" charset="-120"/>
                        </a:rPr>
                        <a:t>dangerousCapabilities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B2A3F"/>
                          </a:solidFill>
                          <a:latin typeface="IBM Plex Sans" pitchFamily="34" charset="0"/>
                          <a:ea typeface="IBM Plex Sans" pitchFamily="34" charset="-122"/>
                          <a:cs typeface="IBM Plex Sans" pitchFamily="34" charset="-120"/>
                        </a:rPr>
                        <a:t>Security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59304">
                <a:tc>
                  <a:txBody>
                    <a:bodyPr/>
                    <a:lstStyle/>
                    <a:p>
                      <a:pPr indent="0" marL="0">
                        <a:lnSpc>
                          <a:spcPts val="1820"/>
                        </a:lnSpc>
                        <a:buNone/>
                      </a:pPr>
                      <a:r>
                        <a:rPr lang="en-US" sz="1300" dirty="0">
                          <a:solidFill>
                            <a:srgbClr val="1B2A3F"/>
                          </a:solidFill>
                          <a:latin typeface="IBM Plex Sans" pitchFamily="34" charset="0"/>
                          <a:ea typeface="IBM Plex Sans" pitchFamily="34" charset="-122"/>
                          <a:cs typeface="IBM Plex Sans" pitchFamily="34" charset="-120"/>
                        </a:rPr>
                        <a:t>tagNotSpecified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820"/>
                        </a:lnSpc>
                        <a:buNone/>
                      </a:pPr>
                      <a:r>
                        <a:rPr lang="en-US" sz="1300" dirty="0">
                          <a:solidFill>
                            <a:srgbClr val="1B2A3F"/>
                          </a:solidFill>
                          <a:latin typeface="IBM Plex Sans" pitchFamily="34" charset="0"/>
                          <a:ea typeface="IBM Plex Sans" pitchFamily="34" charset="-122"/>
                          <a:cs typeface="IBM Plex Sans" pitchFamily="34" charset="-120"/>
                        </a:rPr>
                        <a:t>Reliability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bl>
          </a:graphicData>
        </a:graphic>
      </p:graphicFrame>
      <p:sp>
        <p:nvSpPr>
          <p:cNvPr id="14" name="Text 11"/>
          <p:cNvSpPr/>
          <p:nvPr/>
        </p:nvSpPr>
        <p:spPr>
          <a:xfrm>
            <a:off x="5222214" y="4966165"/>
            <a:ext cx="63416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A5C"/>
                </a:solidFill>
                <a:latin typeface="IBM Plex Sans" pitchFamily="34" charset="0"/>
                <a:ea typeface="IBM Plex Sans" pitchFamily="34" charset="-122"/>
                <a:cs typeface="IBM Plex Sans" pitchFamily="34" charset="-120"/>
              </a:rPr>
              <a:t>The fix: securityContext, resources, probes, image tag, 3 replicas, PDB, NetworkPolicy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65F00"/>
                </a:solidFill>
                <a:latin typeface="JetBrains Mono" pitchFamily="49" charset="0"/>
                <a:ea typeface="JetBrains Mono" pitchFamily="49" charset="-122"/>
                <a:cs typeface="JetBrains Mono" pitchFamily="49" charset="-120"/>
              </a:rPr>
              <a:t>EXAMPLE 2 · CUSTOM CHECKS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F"/>
                </a:solidFill>
                <a:latin typeface="IBM Plex Sans" pitchFamily="34" charset="0"/>
                <a:ea typeface="IBM Plex Sans" pitchFamily="34" charset="-122"/>
                <a:cs typeface="IBM Plex Sans" pitchFamily="34" charset="-120"/>
              </a:rPr>
              <a:t>Add your own rules with JSON Schema</a:t>
            </a:r>
            <a:endParaRPr lang="en-US" sz="3600" dirty="0"/>
          </a:p>
        </p:txBody>
      </p:sp>
      <p:sp>
        <p:nvSpPr>
          <p:cNvPr id="4" name="Text 2"/>
          <p:cNvSpPr/>
          <p:nvPr/>
        </p:nvSpPr>
        <p:spPr>
          <a:xfrm>
            <a:off x="812800" y="1935429"/>
            <a:ext cx="5943600" cy="3708400"/>
          </a:xfrm>
          <a:prstGeom prst="roundRect">
            <a:avLst>
              <a:gd name="adj" fmla="val 3425"/>
            </a:avLst>
          </a:prstGeom>
          <a:solidFill>
            <a:srgbClr val="13233A"/>
          </a:solidFill>
          <a:ln/>
        </p:spPr>
        <p:txBody>
          <a:bodyPr wrap="square" lIns="267603" tIns="216803" rIns="107583" bIns="191403" rtlCol="0" anchor="t">
            <a:normAutofit/>
          </a:bodyPr>
          <a:lstStyle/>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checks:</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imageRegistry: </a:t>
            </a:r>
            <a:r>
              <a:rPr lang="en-US" sz="1200" dirty="0">
                <a:solidFill>
                  <a:srgbClr val="F28B5B"/>
                </a:solidFill>
                <a:latin typeface="JetBrains Mono" pitchFamily="49" charset="0"/>
                <a:ea typeface="JetBrains Mono" pitchFamily="49" charset="-122"/>
                <a:cs typeface="JetBrains Mono" pitchFamily="49" charset="-120"/>
              </a:rPr>
              <a:t>danger</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customChecks:</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imageRegistry:</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category: Security</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target: Container</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failureMessage: Image must come</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from an approved registry</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schema:</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properties:</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image:</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anyOf:</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 pattern: </a:t>
            </a:r>
            <a:r>
              <a:rPr lang="en-US" sz="1200" dirty="0">
                <a:solidFill>
                  <a:srgbClr val="F2A33A"/>
                </a:solidFill>
                <a:latin typeface="JetBrains Mono" pitchFamily="49" charset="0"/>
                <a:ea typeface="JetBrains Mono" pitchFamily="49" charset="-122"/>
                <a:cs typeface="JetBrains Mono" pitchFamily="49" charset="-120"/>
              </a:rPr>
              <a:t>^ghcr.io/my-org/.+$</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 pattern: </a:t>
            </a:r>
            <a:r>
              <a:rPr lang="en-US" sz="1200" dirty="0">
                <a:solidFill>
                  <a:srgbClr val="F2A33A"/>
                </a:solidFill>
                <a:latin typeface="JetBrains Mono" pitchFamily="49" charset="0"/>
                <a:ea typeface="JetBrains Mono" pitchFamily="49" charset="-122"/>
                <a:cs typeface="JetBrains Mono" pitchFamily="49" charset="-120"/>
              </a:rPr>
              <a:t>^registry.k8s.io/.+$</a:t>
            </a:r>
            <a:endParaRPr lang="en-US" sz="1200" dirty="0"/>
          </a:p>
        </p:txBody>
      </p:sp>
      <p:sp>
        <p:nvSpPr>
          <p:cNvPr id="5" name="Shape 3"/>
          <p:cNvSpPr/>
          <p:nvPr/>
        </p:nvSpPr>
        <p:spPr>
          <a:xfrm>
            <a:off x="7118350" y="1941779"/>
            <a:ext cx="4254500" cy="1503627"/>
          </a:xfrm>
          <a:prstGeom prst="roundRect">
            <a:avLst>
              <a:gd name="adj" fmla="val 8024"/>
            </a:avLst>
          </a:prstGeom>
          <a:solidFill>
            <a:srgbClr val="FDFCF8"/>
          </a:solidFill>
          <a:ln w="12700">
            <a:solidFill>
              <a:srgbClr val="2F6FEB"/>
            </a:solidFill>
            <a:prstDash val="solid"/>
          </a:ln>
        </p:spPr>
      </p:sp>
      <p:sp>
        <p:nvSpPr>
          <p:cNvPr id="6" name="Text 4"/>
          <p:cNvSpPr/>
          <p:nvPr/>
        </p:nvSpPr>
        <p:spPr>
          <a:xfrm>
            <a:off x="7378700" y="2151329"/>
            <a:ext cx="3845814"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The "perfect" file with our rules</a:t>
            </a:r>
            <a:endParaRPr lang="en-US" sz="1400" dirty="0"/>
          </a:p>
        </p:txBody>
      </p:sp>
      <p:sp>
        <p:nvSpPr>
          <p:cNvPr id="7" name="Text 5"/>
          <p:cNvSpPr/>
          <p:nvPr/>
        </p:nvSpPr>
        <p:spPr>
          <a:xfrm>
            <a:off x="7378700" y="2451035"/>
            <a:ext cx="3845814"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F6FEB"/>
                </a:solidFill>
                <a:latin typeface="IBM Plex Sans" pitchFamily="34" charset="0"/>
                <a:ea typeface="IBM Plex Sans" pitchFamily="34" charset="-122"/>
                <a:cs typeface="IBM Plex Sans" pitchFamily="34" charset="-120"/>
              </a:rPr>
              <a:t>100 → 90</a:t>
            </a:r>
            <a:endParaRPr lang="en-US" sz="3600" dirty="0"/>
          </a:p>
        </p:txBody>
      </p:sp>
      <p:sp>
        <p:nvSpPr>
          <p:cNvPr id="8" name="Text 6"/>
          <p:cNvSpPr/>
          <p:nvPr/>
        </p:nvSpPr>
        <p:spPr>
          <a:xfrm>
            <a:off x="7378700" y="3004741"/>
            <a:ext cx="384581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C"/>
                </a:solidFill>
                <a:latin typeface="IBM Plex Sans" pitchFamily="34" charset="0"/>
                <a:ea typeface="IBM Plex Sans" pitchFamily="34" charset="-122"/>
                <a:cs typeface="IBM Plex Sans" pitchFamily="34" charset="-120"/>
              </a:rPr>
              <a:t>Polaris does not know your company.</a:t>
            </a:r>
            <a:endParaRPr lang="en-US" sz="1300" dirty="0"/>
          </a:p>
        </p:txBody>
      </p:sp>
      <p:sp>
        <p:nvSpPr>
          <p:cNvPr id="9" name="Text 7"/>
          <p:cNvSpPr/>
          <p:nvPr/>
        </p:nvSpPr>
        <p:spPr>
          <a:xfrm>
            <a:off x="7112000" y="3654955"/>
            <a:ext cx="4395216"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2A3F"/>
                </a:solidFill>
                <a:latin typeface="IBM Plex Sans" pitchFamily="34" charset="0"/>
                <a:ea typeface="IBM Plex Sans" pitchFamily="34" charset="-122"/>
                <a:cs typeface="IBM Plex Sans" pitchFamily="34" charset="-120"/>
              </a:rPr>
              <a:t>More ideas</a:t>
            </a:r>
            <a:endParaRPr lang="en-US" sz="1600" dirty="0"/>
          </a:p>
        </p:txBody>
      </p:sp>
      <p:sp>
        <p:nvSpPr>
          <p:cNvPr id="10" name="Text 8"/>
          <p:cNvSpPr/>
          <p:nvPr/>
        </p:nvSpPr>
        <p:spPr>
          <a:xfrm>
            <a:off x="7190232" y="4142581"/>
            <a:ext cx="4309364" cy="1092200"/>
          </a:xfrm>
          <a:prstGeom prst="rect">
            <a:avLst/>
          </a:prstGeom>
          <a:noFill/>
          <a:ln/>
        </p:spPr>
        <p:txBody>
          <a:bodyPr wrap="square" lIns="0" tIns="0" rIns="0" bIns="0" rtlCol="0" anchor="t">
            <a:normAutofit/>
          </a:bodyPr>
          <a:lstStyle/>
          <a:p>
            <a:pPr algn="l" marL="175768" indent="-175768">
              <a:lnSpc>
                <a:spcPts val="2100"/>
              </a:lnSpc>
              <a:buSzPct val="100000"/>
              <a:buChar char="•"/>
            </a:pPr>
            <a:r>
              <a:rPr lang="en-US" sz="1400" dirty="0">
                <a:solidFill>
                  <a:srgbClr val="3D4A5C"/>
                </a:solidFill>
                <a:latin typeface="IBM Plex Sans" pitchFamily="34" charset="0"/>
                <a:ea typeface="IBM Plex Sans" pitchFamily="34" charset="-122"/>
                <a:cs typeface="IBM Plex Sans" pitchFamily="34" charset="-120"/>
              </a:rPr>
              <a:t>Every app needs a </a:t>
            </a:r>
            <a:r>
              <a:rPr lang="en-US" sz="1400" b="1" dirty="0">
                <a:solidFill>
                  <a:srgbClr val="3D4A5C"/>
                </a:solidFill>
                <a:latin typeface="IBM Plex Sans" pitchFamily="34" charset="0"/>
                <a:ea typeface="IBM Plex Sans" pitchFamily="34" charset="-122"/>
                <a:cs typeface="IBM Plex Sans" pitchFamily="34" charset="-120"/>
              </a:rPr>
              <a:t>team</a:t>
            </a:r>
            <a:r>
              <a:rPr lang="en-US" sz="1400" dirty="0">
                <a:solidFill>
                  <a:srgbClr val="3D4A5C"/>
                </a:solidFill>
                <a:latin typeface="IBM Plex Sans" pitchFamily="34" charset="0"/>
                <a:ea typeface="IBM Plex Sans" pitchFamily="34" charset="-122"/>
                <a:cs typeface="IBM Plex Sans" pitchFamily="34" charset="-120"/>
              </a:rPr>
              <a:t> label</a:t>
            </a:r>
            <a:endParaRPr lang="en-US" sz="1400" dirty="0"/>
          </a:p>
          <a:p>
            <a:pPr algn="l" marL="175768" indent="-175768">
              <a:lnSpc>
                <a:spcPts val="2100"/>
              </a:lnSpc>
              <a:buSzPct val="100000"/>
              <a:buChar char="•"/>
            </a:pPr>
            <a:r>
              <a:rPr lang="en-US" sz="1400" dirty="0">
                <a:solidFill>
                  <a:srgbClr val="3D4A5C"/>
                </a:solidFill>
                <a:latin typeface="IBM Plex Sans" pitchFamily="34" charset="0"/>
                <a:ea typeface="IBM Plex Sans" pitchFamily="34" charset="-122"/>
                <a:cs typeface="IBM Plex Sans" pitchFamily="34" charset="-120"/>
              </a:rPr>
              <a:t>No </a:t>
            </a:r>
            <a:r>
              <a:rPr lang="en-US" sz="1400" b="1" dirty="0">
                <a:solidFill>
                  <a:srgbClr val="3D4A5C"/>
                </a:solidFill>
                <a:latin typeface="IBM Plex Sans" pitchFamily="34" charset="0"/>
                <a:ea typeface="IBM Plex Sans" pitchFamily="34" charset="-122"/>
                <a:cs typeface="IBM Plex Sans" pitchFamily="34" charset="-120"/>
              </a:rPr>
              <a:t>NodePort</a:t>
            </a:r>
            <a:r>
              <a:rPr lang="en-US" sz="1400" dirty="0">
                <a:solidFill>
                  <a:srgbClr val="3D4A5C"/>
                </a:solidFill>
                <a:latin typeface="IBM Plex Sans" pitchFamily="34" charset="0"/>
                <a:ea typeface="IBM Plex Sans" pitchFamily="34" charset="-122"/>
                <a:cs typeface="IBM Plex Sans" pitchFamily="34" charset="-120"/>
              </a:rPr>
              <a:t> Services</a:t>
            </a:r>
            <a:endParaRPr lang="en-US" sz="1400" dirty="0"/>
          </a:p>
          <a:p>
            <a:pPr algn="l" marL="175768" indent="-175768">
              <a:lnSpc>
                <a:spcPts val="2100"/>
              </a:lnSpc>
              <a:buSzPct val="100000"/>
              <a:buChar char="•"/>
            </a:pPr>
            <a:r>
              <a:rPr lang="en-US" sz="1400" b="1" dirty="0">
                <a:solidFill>
                  <a:srgbClr val="3D4A5C"/>
                </a:solidFill>
                <a:latin typeface="IBM Plex Sans" pitchFamily="34" charset="0"/>
                <a:ea typeface="IBM Plex Sans" pitchFamily="34" charset="-122"/>
                <a:cs typeface="IBM Plex Sans" pitchFamily="34" charset="-120"/>
              </a:rPr>
              <a:t>initContainers</a:t>
            </a:r>
            <a:r>
              <a:rPr lang="en-US" sz="1400" dirty="0">
                <a:solidFill>
                  <a:srgbClr val="3D4A5C"/>
                </a:solidFill>
                <a:latin typeface="IBM Plex Sans" pitchFamily="34" charset="0"/>
                <a:ea typeface="IBM Plex Sans" pitchFamily="34" charset="-122"/>
                <a:cs typeface="IBM Plex Sans" pitchFamily="34" charset="-120"/>
              </a:rPr>
              <a:t> need resources</a:t>
            </a:r>
            <a:endParaRPr lang="en-US" sz="1400" dirty="0"/>
          </a:p>
          <a:p>
            <a:pPr algn="l" marL="175768" indent="-175768">
              <a:lnSpc>
                <a:spcPts val="2100"/>
              </a:lnSpc>
              <a:buSzPct val="100000"/>
              <a:buChar char="•"/>
            </a:pPr>
            <a:r>
              <a:rPr lang="en-US" sz="1400" dirty="0">
                <a:solidFill>
                  <a:srgbClr val="3D4A5C"/>
                </a:solidFill>
                <a:latin typeface="IBM Plex Sans" pitchFamily="34" charset="0"/>
                <a:ea typeface="IBM Plex Sans" pitchFamily="34" charset="-122"/>
                <a:cs typeface="IBM Plex Sans" pitchFamily="34" charset="-120"/>
              </a:rPr>
              <a:t>A max number of </a:t>
            </a:r>
            <a:r>
              <a:rPr lang="en-US" sz="1400" b="1" dirty="0">
                <a:solidFill>
                  <a:srgbClr val="3D4A5C"/>
                </a:solidFill>
                <a:latin typeface="IBM Plex Sans" pitchFamily="34" charset="0"/>
                <a:ea typeface="IBM Plex Sans" pitchFamily="34" charset="-122"/>
                <a:cs typeface="IBM Plex Sans" pitchFamily="34" charset="-120"/>
              </a:rPr>
              <a:t>replicas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65F00"/>
                </a:solidFill>
                <a:latin typeface="JetBrains Mono" pitchFamily="49" charset="0"/>
                <a:ea typeface="JetBrains Mono" pitchFamily="49" charset="-122"/>
                <a:cs typeface="JetBrains Mono" pitchFamily="49" charset="-120"/>
              </a:rPr>
              <a:t>EXAMPLE 3 · EXEMPTIONS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F"/>
                </a:solidFill>
                <a:latin typeface="IBM Plex Sans" pitchFamily="34" charset="0"/>
                <a:ea typeface="IBM Plex Sans" pitchFamily="34" charset="-122"/>
                <a:cs typeface="IBM Plex Sans" pitchFamily="34" charset="-120"/>
              </a:rPr>
              <a:t>Exceptions everyone can see</a:t>
            </a:r>
            <a:endParaRPr lang="en-US" sz="3600" dirty="0"/>
          </a:p>
        </p:txBody>
      </p:sp>
      <p:sp>
        <p:nvSpPr>
          <p:cNvPr id="4" name="Text 2"/>
          <p:cNvSpPr/>
          <p:nvPr/>
        </p:nvSpPr>
        <p:spPr>
          <a:xfrm>
            <a:off x="812800" y="1732229"/>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C"/>
                </a:solidFill>
                <a:latin typeface="IBM Plex Sans" pitchFamily="34" charset="0"/>
                <a:ea typeface="IBM Plex Sans" pitchFamily="34" charset="-122"/>
                <a:cs typeface="IBM Plex Sans" pitchFamily="34" charset="-120"/>
              </a:rPr>
              <a:t>Some apps must break a rule. For example, kube-proxy </a:t>
            </a:r>
            <a:r>
              <a:rPr lang="en-US" sz="1600" b="1" dirty="0">
                <a:solidFill>
                  <a:srgbClr val="3D4A5C"/>
                </a:solidFill>
                <a:latin typeface="IBM Plex Sans" pitchFamily="34" charset="0"/>
                <a:ea typeface="IBM Plex Sans" pitchFamily="34" charset="-122"/>
                <a:cs typeface="IBM Plex Sans" pitchFamily="34" charset="-120"/>
              </a:rPr>
              <a:t>needs</a:t>
            </a:r>
            <a:r>
              <a:rPr lang="en-US" sz="1600" dirty="0">
                <a:solidFill>
                  <a:srgbClr val="3D4A5C"/>
                </a:solidFill>
                <a:latin typeface="IBM Plex Sans" pitchFamily="34" charset="0"/>
                <a:ea typeface="IBM Plex Sans" pitchFamily="34" charset="-122"/>
                <a:cs typeface="IBM Plex Sans" pitchFamily="34" charset="-120"/>
              </a:rPr>
              <a:t> hostNetwork.</a:t>
            </a:r>
            <a:endParaRPr lang="en-US" sz="1600" dirty="0"/>
          </a:p>
        </p:txBody>
      </p:sp>
      <p:pic>
        <p:nvPicPr>
          <p:cNvPr id="5" name="Image 0" descr="Settings">    </p:cNvPr>
          <p:cNvPicPr>
            <a:picLocks noChangeAspect="1"/>
          </p:cNvPicPr>
          <p:nvPr/>
        </p:nvPicPr>
        <p:blipFill>
          <a:blip r:embed="rId1"/>
          <a:srcRect l="0" r="0" t="0" b="0"/>
          <a:stretch/>
        </p:blipFill>
        <p:spPr>
          <a:xfrm>
            <a:off x="812800" y="2321455"/>
            <a:ext cx="279400" cy="279400"/>
          </a:xfrm>
          <a:prstGeom prst="rect">
            <a:avLst/>
          </a:prstGeom>
        </p:spPr>
      </p:pic>
      <p:sp>
        <p:nvSpPr>
          <p:cNvPr id="6" name="Text 3"/>
          <p:cNvSpPr/>
          <p:nvPr/>
        </p:nvSpPr>
        <p:spPr>
          <a:xfrm>
            <a:off x="1193800" y="2323970"/>
            <a:ext cx="2101295"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3F"/>
                </a:solidFill>
                <a:latin typeface="IBM Plex Sans" pitchFamily="34" charset="0"/>
                <a:ea typeface="IBM Plex Sans" pitchFamily="34" charset="-122"/>
                <a:cs typeface="IBM Plex Sans" pitchFamily="34" charset="-120"/>
              </a:rPr>
              <a:t>In the config file</a:t>
            </a:r>
            <a:endParaRPr lang="en-US" sz="1800" dirty="0"/>
          </a:p>
        </p:txBody>
      </p:sp>
      <p:sp>
        <p:nvSpPr>
          <p:cNvPr id="7" name="Text 4"/>
          <p:cNvSpPr/>
          <p:nvPr/>
        </p:nvSpPr>
        <p:spPr>
          <a:xfrm>
            <a:off x="812800" y="2753255"/>
            <a:ext cx="5156200" cy="2597150"/>
          </a:xfrm>
          <a:prstGeom prst="roundRect">
            <a:avLst>
              <a:gd name="adj" fmla="val 4890"/>
            </a:avLst>
          </a:prstGeom>
          <a:solidFill>
            <a:srgbClr val="13233A"/>
          </a:solidFill>
          <a:ln/>
        </p:spPr>
        <p:txBody>
          <a:bodyPr wrap="square" lIns="267603" tIns="216803" rIns="131205" bIns="216803" rtlCol="0" anchor="t">
            <a:normAutofit/>
          </a:bodyPr>
          <a:lstStyle/>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exemptions:</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 namespace: kube-system</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controllerNames:</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 kube-proxy</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 cilium</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rules:</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 </a:t>
            </a:r>
            <a:r>
              <a:rPr lang="en-US" sz="1300" dirty="0">
                <a:solidFill>
                  <a:srgbClr val="F2A33A"/>
                </a:solidFill>
                <a:latin typeface="JetBrains Mono" pitchFamily="49" charset="0"/>
                <a:ea typeface="JetBrains Mono" pitchFamily="49" charset="-122"/>
                <a:cs typeface="JetBrains Mono" pitchFamily="49" charset="-120"/>
              </a:rPr>
              <a:t>hostNetworkSet</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 </a:t>
            </a:r>
            <a:r>
              <a:rPr lang="en-US" sz="1300" dirty="0">
                <a:solidFill>
                  <a:srgbClr val="F2A33A"/>
                </a:solidFill>
                <a:latin typeface="JetBrains Mono" pitchFamily="49" charset="0"/>
                <a:ea typeface="JetBrains Mono" pitchFamily="49" charset="-122"/>
                <a:cs typeface="JetBrains Mono" pitchFamily="49" charset="-120"/>
              </a:rPr>
              <a:t>runAsPrivileged</a:t>
            </a:r>
            <a:endParaRPr lang="en-US" sz="1300" dirty="0"/>
          </a:p>
        </p:txBody>
      </p:sp>
      <p:pic>
        <p:nvPicPr>
          <p:cNvPr id="8" name="Image 1" descr="Search">    </p:cNvPr>
          <p:cNvPicPr>
            <a:picLocks noChangeAspect="1"/>
          </p:cNvPicPr>
          <p:nvPr/>
        </p:nvPicPr>
        <p:blipFill>
          <a:blip r:embed="rId2"/>
          <a:srcRect l="0" r="0" t="0" b="0"/>
          <a:stretch/>
        </p:blipFill>
        <p:spPr>
          <a:xfrm>
            <a:off x="6223000" y="2321455"/>
            <a:ext cx="279400" cy="279400"/>
          </a:xfrm>
          <a:prstGeom prst="rect">
            <a:avLst/>
          </a:prstGeom>
        </p:spPr>
      </p:pic>
      <p:sp>
        <p:nvSpPr>
          <p:cNvPr id="9" name="Text 5"/>
          <p:cNvSpPr/>
          <p:nvPr/>
        </p:nvSpPr>
        <p:spPr>
          <a:xfrm>
            <a:off x="6604000" y="2323970"/>
            <a:ext cx="2030571"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2A3F"/>
                </a:solidFill>
                <a:latin typeface="IBM Plex Sans" pitchFamily="34" charset="0"/>
                <a:ea typeface="IBM Plex Sans" pitchFamily="34" charset="-122"/>
                <a:cs typeface="IBM Plex Sans" pitchFamily="34" charset="-120"/>
              </a:rPr>
              <a:t>In the YAML file</a:t>
            </a:r>
            <a:endParaRPr lang="en-US" sz="1800" dirty="0"/>
          </a:p>
        </p:txBody>
      </p:sp>
      <p:sp>
        <p:nvSpPr>
          <p:cNvPr id="10" name="Text 6"/>
          <p:cNvSpPr/>
          <p:nvPr/>
        </p:nvSpPr>
        <p:spPr>
          <a:xfrm>
            <a:off x="6223000" y="2753255"/>
            <a:ext cx="5156200" cy="1498600"/>
          </a:xfrm>
          <a:prstGeom prst="roundRect">
            <a:avLst>
              <a:gd name="adj" fmla="val 8475"/>
            </a:avLst>
          </a:prstGeom>
          <a:solidFill>
            <a:srgbClr val="13233A"/>
          </a:solidFill>
          <a:ln/>
        </p:spPr>
        <p:txBody>
          <a:bodyPr wrap="square" lIns="267603" tIns="216803" rIns="131205" bIns="191403" rtlCol="0" anchor="t">
            <a:normAutofit/>
          </a:bodyPr>
          <a:lstStyle/>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metadata:</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annotations:</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polaris.fairwinds.com/</a:t>
            </a:r>
            <a:endParaRPr lang="en-US" sz="1300" dirty="0"/>
          </a:p>
          <a:p>
            <a:pPr algn="l" indent="0" marL="0">
              <a:lnSpc>
                <a:spcPts val="1950"/>
              </a:lnSpc>
              <a:buNone/>
            </a:pPr>
            <a:r>
              <a:rPr lang="en-US" sz="1300" dirty="0">
                <a:solidFill>
                  <a:srgbClr val="E6EDF5"/>
                </a:solidFill>
                <a:latin typeface="JetBrains Mono" pitchFamily="49" charset="0"/>
                <a:ea typeface="JetBrains Mono" pitchFamily="49" charset="-122"/>
                <a:cs typeface="JetBrains Mono" pitchFamily="49" charset="-120"/>
              </a:rPr>
              <a:t>    </a:t>
            </a:r>
            <a:r>
              <a:rPr lang="en-US" sz="1300" dirty="0">
                <a:solidFill>
                  <a:srgbClr val="F2A33A"/>
                </a:solidFill>
                <a:latin typeface="JetBrains Mono" pitchFamily="49" charset="0"/>
                <a:ea typeface="JetBrains Mono" pitchFamily="49" charset="-122"/>
                <a:cs typeface="JetBrains Mono" pitchFamily="49" charset="-120"/>
              </a:rPr>
              <a:t>hostNetworkSet-exempt</a:t>
            </a:r>
            <a:r>
              <a:rPr lang="en-US" sz="1300" dirty="0">
                <a:solidFill>
                  <a:srgbClr val="E6EDF5"/>
                </a:solidFill>
                <a:latin typeface="JetBrains Mono" pitchFamily="49" charset="0"/>
                <a:ea typeface="JetBrains Mono" pitchFamily="49" charset="-122"/>
                <a:cs typeface="JetBrains Mono" pitchFamily="49" charset="-120"/>
              </a:rPr>
              <a:t>: "true"</a:t>
            </a:r>
            <a:endParaRPr lang="en-US" sz="1300" dirty="0"/>
          </a:p>
        </p:txBody>
      </p:sp>
      <p:sp>
        <p:nvSpPr>
          <p:cNvPr id="11" name="Text 7"/>
          <p:cNvSpPr/>
          <p:nvPr/>
        </p:nvSpPr>
        <p:spPr>
          <a:xfrm>
            <a:off x="6229350" y="4410608"/>
            <a:ext cx="5143500" cy="933450"/>
          </a:xfrm>
          <a:prstGeom prst="roundRect">
            <a:avLst>
              <a:gd name="adj" fmla="val 12925"/>
            </a:avLst>
          </a:prstGeom>
          <a:solidFill>
            <a:srgbClr val="FDFCF8"/>
          </a:solidFill>
          <a:ln w="12700">
            <a:solidFill>
              <a:srgbClr val="E2DED3"/>
            </a:solidFill>
            <a:prstDash val="solid"/>
          </a:ln>
        </p:spPr>
        <p:txBody>
          <a:bodyPr wrap="square" lIns="225013" tIns="161513" rIns="86329" bIns="161513" rtlCol="0" anchor="ctr">
            <a:normAutofit/>
          </a:bodyPr>
          <a:lstStyle/>
          <a:p>
            <a:pPr algn="l" indent="0" marL="0">
              <a:lnSpc>
                <a:spcPts val="2025"/>
              </a:lnSpc>
              <a:buNone/>
            </a:pPr>
            <a:r>
              <a:rPr lang="en-US" sz="1500" dirty="0">
                <a:solidFill>
                  <a:srgbClr val="1B2A3F"/>
                </a:solidFill>
                <a:latin typeface="IBM Plex Sans" pitchFamily="34" charset="0"/>
                <a:ea typeface="IBM Plex Sans" pitchFamily="34" charset="-122"/>
                <a:cs typeface="IBM Plex Sans" pitchFamily="34" charset="-120"/>
              </a:rPr>
              <a:t>Everyone can see the exception </a:t>
            </a:r>
            <a:r>
              <a:rPr lang="en-US" sz="1500" b="1" dirty="0">
                <a:solidFill>
                  <a:srgbClr val="1B2A3F"/>
                </a:solidFill>
                <a:latin typeface="IBM Plex Sans" pitchFamily="34" charset="0"/>
                <a:ea typeface="IBM Plex Sans" pitchFamily="34" charset="-122"/>
                <a:cs typeface="IBM Plex Sans" pitchFamily="34" charset="-120"/>
              </a:rPr>
              <a:t>in the PR</a:t>
            </a:r>
            <a:r>
              <a:rPr lang="en-US" sz="1500" dirty="0">
                <a:solidFill>
                  <a:srgbClr val="1B2A3F"/>
                </a:solidFill>
                <a:latin typeface="IBM Plex Sans" pitchFamily="34" charset="0"/>
                <a:ea typeface="IBM Plex Sans" pitchFamily="34" charset="-122"/>
                <a:cs typeface="IBM Plex Sans" pitchFamily="34" charset="-120"/>
              </a:rPr>
              <a:t>. Nobody turns off a check in secret.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65F00"/>
                </a:solidFill>
                <a:latin typeface="JetBrains Mono" pitchFamily="49" charset="0"/>
                <a:ea typeface="JetBrains Mono" pitchFamily="49" charset="-122"/>
                <a:cs typeface="JetBrains Mono" pitchFamily="49" charset="-120"/>
              </a:rPr>
              <a:t>IN THE PIPELINE</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F"/>
                </a:solidFill>
                <a:latin typeface="IBM Plex Sans" pitchFamily="34" charset="0"/>
                <a:ea typeface="IBM Plex Sans" pitchFamily="34" charset="-122"/>
                <a:cs typeface="IBM Plex Sans" pitchFamily="34" charset="-120"/>
              </a:rPr>
              <a:t>Exit codes block the PR</a:t>
            </a:r>
            <a:endParaRPr lang="en-US" sz="3600" dirty="0"/>
          </a:p>
        </p:txBody>
      </p:sp>
      <p:sp>
        <p:nvSpPr>
          <p:cNvPr id="4" name="Text 2"/>
          <p:cNvSpPr/>
          <p:nvPr/>
        </p:nvSpPr>
        <p:spPr>
          <a:xfrm>
            <a:off x="812800" y="1935429"/>
            <a:ext cx="6036337" cy="3479800"/>
          </a:xfrm>
          <a:prstGeom prst="roundRect">
            <a:avLst>
              <a:gd name="adj" fmla="val 3650"/>
            </a:avLst>
          </a:prstGeom>
          <a:solidFill>
            <a:srgbClr val="13233A"/>
          </a:solidFill>
          <a:ln/>
        </p:spPr>
        <p:txBody>
          <a:bodyPr wrap="square" lIns="267603" tIns="216803" rIns="104801" bIns="191403" rtlCol="0" anchor="t">
            <a:normAutofit/>
          </a:bodyPr>
          <a:lstStyle/>
          <a:p>
            <a:pPr algn="l" indent="0" marL="0">
              <a:lnSpc>
                <a:spcPts val="1800"/>
              </a:lnSpc>
              <a:buNone/>
            </a:pPr>
            <a:r>
              <a:rPr lang="en-US" sz="1200" dirty="0">
                <a:solidFill>
                  <a:srgbClr val="8FA3BC"/>
                </a:solidFill>
                <a:latin typeface="JetBrains Mono" pitchFamily="49" charset="0"/>
                <a:ea typeface="JetBrains Mono" pitchFamily="49" charset="-122"/>
                <a:cs typeface="JetBrains Mono" pitchFamily="49" charset="-120"/>
              </a:rPr>
              <a:t># .github/workflows/polaris.yaml</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on: pull_request</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jobs:</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polaris:</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runs-on: ubuntu-latest</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steps:</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 uses: actions/checkout@v4</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 run: |</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polaris audit \</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--config polaris-config.yaml \</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--audit-path k8s/ \</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a:t>
            </a:r>
            <a:r>
              <a:rPr lang="en-US" sz="1200" dirty="0">
                <a:solidFill>
                  <a:srgbClr val="F2A33A"/>
                </a:solidFill>
                <a:latin typeface="JetBrains Mono" pitchFamily="49" charset="0"/>
                <a:ea typeface="JetBrains Mono" pitchFamily="49" charset="-122"/>
                <a:cs typeface="JetBrains Mono" pitchFamily="49" charset="-120"/>
              </a:rPr>
              <a:t>--set-exit-code-on-danger</a:t>
            </a:r>
            <a:r>
              <a:rPr lang="en-US" sz="1200" dirty="0">
                <a:solidFill>
                  <a:srgbClr val="E6EDF5"/>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DF5"/>
                </a:solidFill>
                <a:latin typeface="JetBrains Mono" pitchFamily="49" charset="0"/>
                <a:ea typeface="JetBrains Mono" pitchFamily="49" charset="-122"/>
                <a:cs typeface="JetBrains Mono" pitchFamily="49" charset="-120"/>
              </a:rPr>
              <a:t>            </a:t>
            </a:r>
            <a:r>
              <a:rPr lang="en-US" sz="1200" dirty="0">
                <a:solidFill>
                  <a:srgbClr val="F2A33A"/>
                </a:solidFill>
                <a:latin typeface="JetBrains Mono" pitchFamily="49" charset="0"/>
                <a:ea typeface="JetBrains Mono" pitchFamily="49" charset="-122"/>
                <a:cs typeface="JetBrains Mono" pitchFamily="49" charset="-120"/>
              </a:rPr>
              <a:t>--set-exit-code-below-score 80</a:t>
            </a:r>
            <a:endParaRPr lang="en-US" sz="1200" dirty="0"/>
          </a:p>
        </p:txBody>
      </p:sp>
      <p:sp>
        <p:nvSpPr>
          <p:cNvPr id="5" name="Shape 3"/>
          <p:cNvSpPr/>
          <p:nvPr/>
        </p:nvSpPr>
        <p:spPr>
          <a:xfrm>
            <a:off x="7211087" y="1941779"/>
            <a:ext cx="4161764" cy="876300"/>
          </a:xfrm>
          <a:prstGeom prst="roundRect">
            <a:avLst>
              <a:gd name="adj" fmla="val 13768"/>
            </a:avLst>
          </a:prstGeom>
          <a:solidFill>
            <a:srgbClr val="FDFCF8"/>
          </a:solidFill>
          <a:ln w="12700">
            <a:solidFill>
              <a:srgbClr val="E2DED3"/>
            </a:solidFill>
            <a:prstDash val="solid"/>
          </a:ln>
        </p:spPr>
      </p:sp>
      <p:sp>
        <p:nvSpPr>
          <p:cNvPr id="6" name="Text 4"/>
          <p:cNvSpPr/>
          <p:nvPr/>
        </p:nvSpPr>
        <p:spPr>
          <a:xfrm>
            <a:off x="7446037" y="2125929"/>
            <a:ext cx="357584"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B8360F"/>
                </a:solidFill>
                <a:latin typeface="IBM Plex Sans" pitchFamily="34" charset="0"/>
                <a:ea typeface="IBM Plex Sans" pitchFamily="34" charset="-122"/>
                <a:cs typeface="IBM Plex Sans" pitchFamily="34" charset="-120"/>
              </a:rPr>
              <a:t>3</a:t>
            </a:r>
            <a:endParaRPr lang="en-US" sz="4000" dirty="0"/>
          </a:p>
        </p:txBody>
      </p:sp>
      <p:sp>
        <p:nvSpPr>
          <p:cNvPr id="7" name="Text 5"/>
          <p:cNvSpPr/>
          <p:nvPr/>
        </p:nvSpPr>
        <p:spPr>
          <a:xfrm>
            <a:off x="7896423" y="2148818"/>
            <a:ext cx="3338721" cy="487627"/>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D4A5C"/>
                </a:solidFill>
                <a:latin typeface="IBM Plex Sans" pitchFamily="34" charset="0"/>
                <a:ea typeface="IBM Plex Sans" pitchFamily="34" charset="-122"/>
                <a:cs typeface="IBM Plex Sans" pitchFamily="34" charset="-120"/>
              </a:rPr>
              <a:t>exit code when there is a </a:t>
            </a:r>
            <a:r>
              <a:rPr lang="en-US" sz="1400" b="1" dirty="0">
                <a:solidFill>
                  <a:srgbClr val="3D4A5C"/>
                </a:solidFill>
                <a:latin typeface="IBM Plex Sans" pitchFamily="34" charset="0"/>
                <a:ea typeface="IBM Plex Sans" pitchFamily="34" charset="-122"/>
                <a:cs typeface="IBM Plex Sans" pitchFamily="34" charset="-120"/>
              </a:rPr>
              <a:t>danger</a:t>
            </a:r>
            <a:r>
              <a:rPr lang="en-US" sz="1400" dirty="0">
                <a:solidFill>
                  <a:srgbClr val="3D4A5C"/>
                </a:solidFill>
                <a:latin typeface="IBM Plex Sans" pitchFamily="34" charset="0"/>
                <a:ea typeface="IBM Plex Sans" pitchFamily="34" charset="-122"/>
                <a:cs typeface="IBM Plex Sans" pitchFamily="34" charset="-120"/>
              </a:rPr>
              <a:t> problem</a:t>
            </a:r>
            <a:endParaRPr lang="en-US" sz="1400" dirty="0"/>
          </a:p>
        </p:txBody>
      </p:sp>
      <p:sp>
        <p:nvSpPr>
          <p:cNvPr id="8" name="Shape 6"/>
          <p:cNvSpPr/>
          <p:nvPr/>
        </p:nvSpPr>
        <p:spPr>
          <a:xfrm>
            <a:off x="7211087" y="2983179"/>
            <a:ext cx="4161764" cy="876300"/>
          </a:xfrm>
          <a:prstGeom prst="roundRect">
            <a:avLst>
              <a:gd name="adj" fmla="val 13768"/>
            </a:avLst>
          </a:prstGeom>
          <a:solidFill>
            <a:srgbClr val="FDFCF8"/>
          </a:solidFill>
          <a:ln w="12700">
            <a:solidFill>
              <a:srgbClr val="E2DED3"/>
            </a:solidFill>
            <a:prstDash val="solid"/>
          </a:ln>
        </p:spPr>
      </p:sp>
      <p:sp>
        <p:nvSpPr>
          <p:cNvPr id="9" name="Text 7"/>
          <p:cNvSpPr/>
          <p:nvPr/>
        </p:nvSpPr>
        <p:spPr>
          <a:xfrm>
            <a:off x="7446037" y="3167329"/>
            <a:ext cx="365760"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B8360F"/>
                </a:solidFill>
                <a:latin typeface="IBM Plex Sans" pitchFamily="34" charset="0"/>
                <a:ea typeface="IBM Plex Sans" pitchFamily="34" charset="-122"/>
                <a:cs typeface="IBM Plex Sans" pitchFamily="34" charset="-120"/>
              </a:rPr>
              <a:t>4</a:t>
            </a:r>
            <a:endParaRPr lang="en-US" sz="4000" dirty="0"/>
          </a:p>
        </p:txBody>
      </p:sp>
      <p:sp>
        <p:nvSpPr>
          <p:cNvPr id="10" name="Text 8"/>
          <p:cNvSpPr/>
          <p:nvPr/>
        </p:nvSpPr>
        <p:spPr>
          <a:xfrm>
            <a:off x="7903237" y="3305770"/>
            <a:ext cx="3359229" cy="256514"/>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D4A5C"/>
                </a:solidFill>
                <a:latin typeface="IBM Plex Sans" pitchFamily="34" charset="0"/>
                <a:ea typeface="IBM Plex Sans" pitchFamily="34" charset="-122"/>
                <a:cs typeface="IBM Plex Sans" pitchFamily="34" charset="-120"/>
              </a:rPr>
              <a:t>exit code when the </a:t>
            </a:r>
            <a:r>
              <a:rPr lang="en-US" sz="1400" b="1" dirty="0">
                <a:solidFill>
                  <a:srgbClr val="3D4A5C"/>
                </a:solidFill>
                <a:latin typeface="IBM Plex Sans" pitchFamily="34" charset="0"/>
                <a:ea typeface="IBM Plex Sans" pitchFamily="34" charset="-122"/>
                <a:cs typeface="IBM Plex Sans" pitchFamily="34" charset="-120"/>
              </a:rPr>
              <a:t>score</a:t>
            </a:r>
            <a:r>
              <a:rPr lang="en-US" sz="1400" dirty="0">
                <a:solidFill>
                  <a:srgbClr val="3D4A5C"/>
                </a:solidFill>
                <a:latin typeface="IBM Plex Sans" pitchFamily="34" charset="0"/>
                <a:ea typeface="IBM Plex Sans" pitchFamily="34" charset="-122"/>
                <a:cs typeface="IBM Plex Sans" pitchFamily="34" charset="-120"/>
              </a:rPr>
              <a:t> is too low</a:t>
            </a:r>
            <a:endParaRPr lang="en-US" sz="1400" dirty="0"/>
          </a:p>
        </p:txBody>
      </p:sp>
      <p:pic>
        <p:nvPicPr>
          <p:cNvPr id="11" name="Image 0" descr="Tool">    </p:cNvPr>
          <p:cNvPicPr>
            <a:picLocks noChangeAspect="1"/>
          </p:cNvPicPr>
          <p:nvPr/>
        </p:nvPicPr>
        <p:blipFill>
          <a:blip r:embed="rId1"/>
          <a:srcRect l="0" r="0" t="0" b="0"/>
          <a:stretch/>
        </p:blipFill>
        <p:spPr>
          <a:xfrm>
            <a:off x="7204737" y="4069029"/>
            <a:ext cx="279400" cy="279400"/>
          </a:xfrm>
          <a:prstGeom prst="rect">
            <a:avLst/>
          </a:prstGeom>
        </p:spPr>
      </p:pic>
      <p:sp>
        <p:nvSpPr>
          <p:cNvPr id="12" name="Text 9"/>
          <p:cNvSpPr/>
          <p:nvPr/>
        </p:nvSpPr>
        <p:spPr>
          <a:xfrm>
            <a:off x="7611137" y="4093170"/>
            <a:ext cx="3391456" cy="256514"/>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D4A5C"/>
                </a:solidFill>
                <a:latin typeface="IBM Plex Sans" pitchFamily="34" charset="0"/>
                <a:ea typeface="IBM Plex Sans" pitchFamily="34" charset="-122"/>
                <a:cs typeface="IBM Plex Sans" pitchFamily="34" charset="-120"/>
              </a:rPr>
              <a:t>Works with Helm too: </a:t>
            </a:r>
            <a:r>
              <a:rPr lang="en-US" sz="1400" b="1" dirty="0">
                <a:solidFill>
                  <a:srgbClr val="3D4A5C"/>
                </a:solidFill>
                <a:latin typeface="IBM Plex Sans" pitchFamily="34" charset="0"/>
                <a:ea typeface="IBM Plex Sans" pitchFamily="34" charset="-122"/>
                <a:cs typeface="IBM Plex Sans" pitchFamily="34" charset="-120"/>
              </a:rPr>
              <a:t>--helm-chart</a:t>
            </a:r>
            <a:endParaRPr lang="en-US" sz="1400" dirty="0"/>
          </a:p>
        </p:txBody>
      </p:sp>
      <p:pic>
        <p:nvPicPr>
          <p:cNvPr id="13" name="Image 1" descr="CheckCircle">    </p:cNvPr>
          <p:cNvPicPr>
            <a:picLocks noChangeAspect="1"/>
          </p:cNvPicPr>
          <p:nvPr/>
        </p:nvPicPr>
        <p:blipFill>
          <a:blip r:embed="rId2"/>
          <a:srcRect l="0" r="0" t="0" b="0"/>
          <a:stretch/>
        </p:blipFill>
        <p:spPr>
          <a:xfrm>
            <a:off x="7204737" y="4500829"/>
            <a:ext cx="279400" cy="279400"/>
          </a:xfrm>
          <a:prstGeom prst="rect">
            <a:avLst/>
          </a:prstGeom>
        </p:spPr>
      </p:pic>
      <p:sp>
        <p:nvSpPr>
          <p:cNvPr id="14" name="Text 10"/>
          <p:cNvSpPr/>
          <p:nvPr/>
        </p:nvSpPr>
        <p:spPr>
          <a:xfrm>
            <a:off x="7611137" y="4524970"/>
            <a:ext cx="4300220" cy="256514"/>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3D4A5C"/>
                </a:solidFill>
                <a:latin typeface="IBM Plex Sans" pitchFamily="34" charset="0"/>
                <a:ea typeface="IBM Plex Sans" pitchFamily="34" charset="-122"/>
                <a:cs typeface="IBM Plex Sans" pitchFamily="34" charset="-120"/>
              </a:rPr>
              <a:t>Make it a </a:t>
            </a:r>
            <a:r>
              <a:rPr lang="en-US" sz="1400" b="1" dirty="0">
                <a:solidFill>
                  <a:srgbClr val="3D4A5C"/>
                </a:solidFill>
                <a:latin typeface="IBM Plex Sans" pitchFamily="34" charset="0"/>
                <a:ea typeface="IBM Plex Sans" pitchFamily="34" charset="-122"/>
                <a:cs typeface="IBM Plex Sans" pitchFamily="34" charset="-120"/>
              </a:rPr>
              <a:t>required check</a:t>
            </a:r>
            <a:r>
              <a:rPr lang="en-US" sz="1400" dirty="0">
                <a:solidFill>
                  <a:srgbClr val="3D4A5C"/>
                </a:solidFill>
                <a:latin typeface="IBM Plex Sans" pitchFamily="34" charset="0"/>
                <a:ea typeface="IBM Plex Sans" pitchFamily="34" charset="-122"/>
                <a:cs typeface="IBM Plex Sans" pitchFamily="34" charset="-120"/>
              </a:rPr>
              <a:t> on the main branch</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65F00"/>
                </a:solidFill>
                <a:latin typeface="JetBrains Mono" pitchFamily="49" charset="0"/>
                <a:ea typeface="JetBrains Mono" pitchFamily="49" charset="-122"/>
                <a:cs typeface="JetBrains Mono" pitchFamily="49" charset="-120"/>
              </a:rPr>
              <a:t>POLARIS VS. NATIVE KUBERNETES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F"/>
                </a:solidFill>
                <a:latin typeface="IBM Plex Sans" pitchFamily="34" charset="0"/>
                <a:ea typeface="IBM Plex Sans" pitchFamily="34" charset="-122"/>
                <a:cs typeface="IBM Plex Sans" pitchFamily="34" charset="-120"/>
              </a:rPr>
              <a:t>Native tools are safe, but late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329"/>
          <a:ext cx="10553700" cy="2328532"/>
        </p:xfrm>
        <a:graphic>
          <a:graphicData uri="http://schemas.openxmlformats.org/drawingml/2006/table">
            <a:tbl>
              <a:tblPr/>
              <a:tblGrid>
                <a:gridCol w="1688592"/>
                <a:gridCol w="2216277"/>
                <a:gridCol w="2216277"/>
                <a:gridCol w="2216277"/>
                <a:gridCol w="2216277"/>
              </a:tblGrid>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2A33A"/>
                          </a:solidFill>
                          <a:latin typeface="IBM Plex Sans" pitchFamily="34" charset="0"/>
                          <a:ea typeface="IBM Plex Sans" pitchFamily="34" charset="-122"/>
                          <a:cs typeface="IBM Plex Sans" pitchFamily="34" charset="-120"/>
                        </a:rPr>
                        <a:t>Polaris CLI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Pod Security Admission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Validating Admission Policy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7F5EF"/>
                          </a:solidFill>
                          <a:latin typeface="IBM Plex Sans" pitchFamily="34" charset="0"/>
                          <a:ea typeface="IBM Plex Sans" pitchFamily="34" charset="-122"/>
                          <a:cs typeface="IBM Plex Sans" pitchFamily="34" charset="-120"/>
                        </a:rPr>
                        <a:t>dry-run / kubeconform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2647">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Where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CI, no cluster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In the cluster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In the cluster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CI or cluster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Checks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Security, efficiency, reliability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Only Pod security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Only your rules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Only the format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32647">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Ready rules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About 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3 fixed profiles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Your rules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JSON Schema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CEL, very powerful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None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r h="332647">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Install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Only in CI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Nothing, native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Nothing, native (GA 1.30)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Nothing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C5C4BF"/>
                      </a:solidFill>
                      <a:prstDash val="solid"/>
                      <a:round/>
                      <a:headEnd type="none" w="med" len="med"/>
                      <a:tailEnd type="none" w="med" len="med"/>
                    </a:lnR>
                    <a:lnT w="12700" cap="flat" cmpd="sng" algn="ctr">
                      <a:solidFill>
                        <a:srgbClr val="BFBCB5"/>
                      </a:solidFill>
                      <a:prstDash val="solid"/>
                      <a:round/>
                      <a:headEnd type="none" w="med" len="med"/>
                      <a:tailEnd type="none" w="med" len="med"/>
                    </a:lnT>
                    <a:lnB w="12700" cap="flat" cmpd="sng" algn="ctr">
                      <a:solidFill>
                        <a:srgbClr val="C5C4BF"/>
                      </a:solidFill>
                      <a:prstDash val="solid"/>
                      <a:round/>
                      <a:headEnd type="none" w="med" len="med"/>
                      <a:tailEnd type="none" w="med" len="med"/>
                    </a:lnB>
                  </a:tcPr>
                </a:tc>
              </a:tr>
              <a:tr h="332647">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Feedback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5C4BF"/>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In the PR, with score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On apply (late)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On apply (late)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c>
                  <a:txBody>
                    <a:bodyPr/>
                    <a:lstStyle/>
                    <a:p>
                      <a:pPr indent="0" marL="0">
                        <a:lnSpc>
                          <a:spcPts val="1680"/>
                        </a:lnSpc>
                        <a:buNone/>
                      </a:pPr>
                      <a:r>
                        <a:rPr lang="en-US" sz="1200" dirty="0">
                          <a:solidFill>
                            <a:srgbClr val="1B2A3F"/>
                          </a:solidFill>
                          <a:latin typeface="IBM Plex Sans" pitchFamily="34" charset="0"/>
                          <a:ea typeface="IBM Plex Sans" pitchFamily="34" charset="-122"/>
                          <a:cs typeface="IBM Plex Sans" pitchFamily="34" charset="-120"/>
                        </a:rPr>
                        <a:t>In the PR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FBCB5"/>
                      </a:solidFill>
                      <a:prstDash val="solid"/>
                      <a:round/>
                      <a:headEnd type="none" w="med" len="med"/>
                      <a:tailEnd type="none" w="med" len="med"/>
                    </a:lnL>
                    <a:lnR w="12700" cap="flat" cmpd="sng" algn="ctr">
                      <a:solidFill>
                        <a:srgbClr val="BFBCB5"/>
                      </a:solidFill>
                      <a:prstDash val="solid"/>
                      <a:round/>
                      <a:headEnd type="none" w="med" len="med"/>
                      <a:tailEnd type="none" w="med" len="med"/>
                    </a:lnR>
                    <a:lnT w="12700" cap="flat" cmpd="sng" algn="ctr">
                      <a:solidFill>
                        <a:srgbClr val="C5C4BF"/>
                      </a:solidFill>
                      <a:prstDash val="solid"/>
                      <a:round/>
                      <a:headEnd type="none" w="med" len="med"/>
                      <a:tailEnd type="none" w="med" len="med"/>
                    </a:lnT>
                    <a:lnB w="12700" cap="flat" cmpd="sng" algn="ctr">
                      <a:solidFill>
                        <a:srgbClr val="BFBCB5"/>
                      </a:solidFill>
                      <a:prstDash val="solid"/>
                      <a:round/>
                      <a:headEnd type="none" w="med" len="med"/>
                      <a:tailEnd type="none" w="med" len="med"/>
                    </a:lnB>
                    <a:solidFill>
                      <a:srgbClr val="EFECE3"/>
                    </a:solidFill>
                  </a:tcPr>
                </a:tc>
              </a:tr>
            </a:tbl>
          </a:graphicData>
        </a:graphic>
      </p:graphicFrame>
      <p:sp>
        <p:nvSpPr>
          <p:cNvPr id="5" name="Text 2"/>
          <p:cNvSpPr/>
          <p:nvPr/>
        </p:nvSpPr>
        <p:spPr>
          <a:xfrm>
            <a:off x="812800" y="4479863"/>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C"/>
                </a:solidFill>
                <a:latin typeface="IBM Plex Sans" pitchFamily="34" charset="0"/>
                <a:ea typeface="IBM Plex Sans" pitchFamily="34" charset="-122"/>
                <a:cs typeface="IBM Plex Sans" pitchFamily="34" charset="-120"/>
              </a:rPr>
              <a:t>Kyverno and OPA Gatekeeper: more powerful than Polaris, but harder to run.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A65F00"/>
                </a:solidFill>
                <a:latin typeface="JetBrains Mono" pitchFamily="49" charset="0"/>
                <a:ea typeface="JetBrains Mono" pitchFamily="49" charset="-122"/>
                <a:cs typeface="JetBrains Mono" pitchFamily="49" charset="-120"/>
              </a:rPr>
              <a:t>TRADEOFFS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B2A3F"/>
                </a:solidFill>
                <a:latin typeface="IBM Plex Sans" pitchFamily="34" charset="0"/>
                <a:ea typeface="IBM Plex Sans" pitchFamily="34" charset="-122"/>
                <a:cs typeface="IBM Plex Sans" pitchFamily="34" charset="-120"/>
              </a:rPr>
              <a:t>Easy to start, but not enough alone</a:t>
            </a:r>
            <a:endParaRPr lang="en-US" sz="3600" dirty="0"/>
          </a:p>
        </p:txBody>
      </p:sp>
      <p:sp>
        <p:nvSpPr>
          <p:cNvPr id="4" name="Shape 2"/>
          <p:cNvSpPr/>
          <p:nvPr/>
        </p:nvSpPr>
        <p:spPr>
          <a:xfrm>
            <a:off x="819150" y="1890979"/>
            <a:ext cx="5143500" cy="2339181"/>
          </a:xfrm>
          <a:prstGeom prst="roundRect">
            <a:avLst>
              <a:gd name="adj" fmla="val 5158"/>
            </a:avLst>
          </a:prstGeom>
          <a:solidFill>
            <a:srgbClr val="FDFCF8"/>
          </a:solidFill>
          <a:ln w="12700">
            <a:solidFill>
              <a:srgbClr val="2F6FEB"/>
            </a:solidFill>
            <a:prstDash val="solid"/>
          </a:ln>
        </p:spPr>
      </p:sp>
      <p:pic>
        <p:nvPicPr>
          <p:cNvPr id="5" name="Image 0" descr="ThumbsUp">    </p:cNvPr>
          <p:cNvPicPr>
            <a:picLocks noChangeAspect="1"/>
          </p:cNvPicPr>
          <p:nvPr/>
        </p:nvPicPr>
        <p:blipFill>
          <a:blip r:embed="rId1"/>
          <a:srcRect l="0" r="0" t="0" b="0"/>
          <a:stretch/>
        </p:blipFill>
        <p:spPr>
          <a:xfrm>
            <a:off x="1130300" y="2151329"/>
            <a:ext cx="304800" cy="304800"/>
          </a:xfrm>
          <a:prstGeom prst="rect">
            <a:avLst/>
          </a:prstGeom>
        </p:spPr>
      </p:pic>
      <p:sp>
        <p:nvSpPr>
          <p:cNvPr id="6" name="Text 3"/>
          <p:cNvSpPr/>
          <p:nvPr/>
        </p:nvSpPr>
        <p:spPr>
          <a:xfrm>
            <a:off x="1536700" y="2151329"/>
            <a:ext cx="64404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2F6FEB"/>
                </a:solidFill>
                <a:latin typeface="IBM Plex Sans" pitchFamily="34" charset="0"/>
                <a:ea typeface="IBM Plex Sans" pitchFamily="34" charset="-122"/>
                <a:cs typeface="IBM Plex Sans" pitchFamily="34" charset="-120"/>
              </a:rPr>
              <a:t>Pros</a:t>
            </a:r>
            <a:endParaRPr lang="en-US" sz="2000" dirty="0"/>
          </a:p>
        </p:txBody>
      </p:sp>
      <p:sp>
        <p:nvSpPr>
          <p:cNvPr id="7" name="Text 4"/>
          <p:cNvSpPr/>
          <p:nvPr/>
        </p:nvSpPr>
        <p:spPr>
          <a:xfrm>
            <a:off x="1215644" y="2583129"/>
            <a:ext cx="4563872" cy="1180968"/>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1B2A3F"/>
                </a:solidFill>
                <a:latin typeface="IBM Plex Sans" pitchFamily="34" charset="0"/>
                <a:ea typeface="IBM Plex Sans" pitchFamily="34" charset="-122"/>
                <a:cs typeface="IBM Plex Sans" pitchFamily="34" charset="-120"/>
              </a:rPr>
              <a:t>Useful on day one: no rules to write</a:t>
            </a:r>
            <a:endParaRPr lang="en-US" sz="1300" dirty="0"/>
          </a:p>
          <a:p>
            <a:pPr algn="l" marL="168656" indent="-168656">
              <a:lnSpc>
                <a:spcPts val="1820"/>
              </a:lnSpc>
              <a:buSzPct val="100000"/>
              <a:buChar char="•"/>
            </a:pPr>
            <a:r>
              <a:rPr lang="en-US" sz="1300" dirty="0">
                <a:solidFill>
                  <a:srgbClr val="1B2A3F"/>
                </a:solidFill>
                <a:latin typeface="IBM Plex Sans" pitchFamily="34" charset="0"/>
                <a:ea typeface="IBM Plex Sans" pitchFamily="34" charset="-122"/>
                <a:cs typeface="IBM Plex Sans" pitchFamily="34" charset="-120"/>
              </a:rPr>
              <a:t>Runs early: no cluster, feedback in the PR</a:t>
            </a:r>
            <a:endParaRPr lang="en-US" sz="1300" dirty="0"/>
          </a:p>
          <a:p>
            <a:pPr algn="l" marL="168656" indent="-168656">
              <a:lnSpc>
                <a:spcPts val="1820"/>
              </a:lnSpc>
              <a:buSzPct val="100000"/>
              <a:buChar char="•"/>
            </a:pPr>
            <a:r>
              <a:rPr lang="en-US" sz="1300" dirty="0">
                <a:solidFill>
                  <a:srgbClr val="1B2A3F"/>
                </a:solidFill>
                <a:latin typeface="IBM Plex Sans" pitchFamily="34" charset="0"/>
                <a:ea typeface="IBM Plex Sans" pitchFamily="34" charset="-122"/>
                <a:cs typeface="IBM Plex Sans" pitchFamily="34" charset="-120"/>
              </a:rPr>
              <a:t>The score helps old projects go step by step</a:t>
            </a:r>
            <a:endParaRPr lang="en-US" sz="1300" dirty="0"/>
          </a:p>
          <a:p>
            <a:pPr algn="l" marL="168656" indent="-168656">
              <a:lnSpc>
                <a:spcPts val="1820"/>
              </a:lnSpc>
              <a:buSzPct val="100000"/>
              <a:buChar char="•"/>
            </a:pPr>
            <a:r>
              <a:rPr lang="en-US" sz="1300" dirty="0">
                <a:solidFill>
                  <a:srgbClr val="1B2A3F"/>
                </a:solidFill>
                <a:latin typeface="IBM Plex Sans" pitchFamily="34" charset="0"/>
                <a:ea typeface="IBM Plex Sans" pitchFamily="34" charset="-122"/>
                <a:cs typeface="IBM Plex Sans" pitchFamily="34" charset="-120"/>
              </a:rPr>
              <a:t>Checks efficiency and reliability, not only security</a:t>
            </a:r>
            <a:endParaRPr lang="en-US" sz="1300" dirty="0"/>
          </a:p>
          <a:p>
            <a:pPr algn="l" marL="168656" indent="-168656">
              <a:lnSpc>
                <a:spcPts val="1820"/>
              </a:lnSpc>
              <a:buSzPct val="100000"/>
              <a:buChar char="•"/>
            </a:pPr>
            <a:r>
              <a:rPr lang="en-US" sz="1300" dirty="0">
                <a:solidFill>
                  <a:srgbClr val="1B2A3F"/>
                </a:solidFill>
                <a:latin typeface="IBM Plex Sans" pitchFamily="34" charset="0"/>
                <a:ea typeface="IBM Plex Sans" pitchFamily="34" charset="-122"/>
                <a:cs typeface="IBM Plex Sans" pitchFamily="34" charset="-120"/>
              </a:rPr>
              <a:t>One config for CI, webhook and dashboard</a:t>
            </a:r>
            <a:endParaRPr lang="en-US" sz="1300" dirty="0"/>
          </a:p>
        </p:txBody>
      </p:sp>
      <p:sp>
        <p:nvSpPr>
          <p:cNvPr id="8" name="Shape 5"/>
          <p:cNvSpPr/>
          <p:nvPr/>
        </p:nvSpPr>
        <p:spPr>
          <a:xfrm>
            <a:off x="6229350" y="1890979"/>
            <a:ext cx="5143500" cy="2339181"/>
          </a:xfrm>
          <a:prstGeom prst="roundRect">
            <a:avLst>
              <a:gd name="adj" fmla="val 5158"/>
            </a:avLst>
          </a:prstGeom>
          <a:solidFill>
            <a:srgbClr val="FDFCF8"/>
          </a:solidFill>
          <a:ln w="12700">
            <a:solidFill>
              <a:srgbClr val="B8360F"/>
            </a:solidFill>
            <a:prstDash val="solid"/>
          </a:ln>
        </p:spPr>
      </p:sp>
      <p:pic>
        <p:nvPicPr>
          <p:cNvPr id="9" name="Image 1" descr="Warning">    </p:cNvPr>
          <p:cNvPicPr>
            <a:picLocks noChangeAspect="1"/>
          </p:cNvPicPr>
          <p:nvPr/>
        </p:nvPicPr>
        <p:blipFill>
          <a:blip r:embed="rId2"/>
          <a:srcRect l="0" r="0" t="0" b="0"/>
          <a:stretch/>
        </p:blipFill>
        <p:spPr>
          <a:xfrm>
            <a:off x="6540500" y="2151329"/>
            <a:ext cx="304800" cy="304800"/>
          </a:xfrm>
          <a:prstGeom prst="rect">
            <a:avLst/>
          </a:prstGeom>
        </p:spPr>
      </p:pic>
      <p:sp>
        <p:nvSpPr>
          <p:cNvPr id="10" name="Text 6"/>
          <p:cNvSpPr/>
          <p:nvPr/>
        </p:nvSpPr>
        <p:spPr>
          <a:xfrm>
            <a:off x="6946900" y="2151329"/>
            <a:ext cx="70564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8360F"/>
                </a:solidFill>
                <a:latin typeface="IBM Plex Sans" pitchFamily="34" charset="0"/>
                <a:ea typeface="IBM Plex Sans" pitchFamily="34" charset="-122"/>
                <a:cs typeface="IBM Plex Sans" pitchFamily="34" charset="-120"/>
              </a:rPr>
              <a:t>Cons</a:t>
            </a:r>
            <a:endParaRPr lang="en-US" sz="2000" dirty="0"/>
          </a:p>
        </p:txBody>
      </p:sp>
      <p:sp>
        <p:nvSpPr>
          <p:cNvPr id="11" name="Text 7"/>
          <p:cNvSpPr/>
          <p:nvPr/>
        </p:nvSpPr>
        <p:spPr>
          <a:xfrm>
            <a:off x="6625844" y="2583129"/>
            <a:ext cx="4563872" cy="1412081"/>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1B2A3F"/>
                </a:solidFill>
                <a:latin typeface="IBM Plex Sans" pitchFamily="34" charset="0"/>
                <a:ea typeface="IBM Plex Sans" pitchFamily="34" charset="-122"/>
                <a:cs typeface="IBM Plex Sans" pitchFamily="34" charset="-120"/>
              </a:rPr>
              <a:t>Many warnings at first: you must tune it</a:t>
            </a:r>
            <a:endParaRPr lang="en-US" sz="1300" dirty="0"/>
          </a:p>
          <a:p>
            <a:pPr algn="l" marL="168656" indent="-168656">
              <a:lnSpc>
                <a:spcPts val="1820"/>
              </a:lnSpc>
              <a:buSzPct val="100000"/>
              <a:buChar char="•"/>
            </a:pPr>
            <a:r>
              <a:rPr lang="en-US" sz="1300" dirty="0">
                <a:solidFill>
                  <a:srgbClr val="1B2A3F"/>
                </a:solidFill>
                <a:latin typeface="IBM Plex Sans" pitchFamily="34" charset="0"/>
                <a:ea typeface="IBM Plex Sans" pitchFamily="34" charset="-122"/>
                <a:cs typeface="IBM Plex Sans" pitchFamily="34" charset="-120"/>
              </a:rPr>
              <a:t>JSON Schema is simpler than CEL or Rego</a:t>
            </a:r>
            <a:endParaRPr lang="en-US" sz="1300" dirty="0"/>
          </a:p>
          <a:p>
            <a:pPr algn="l" marL="168656" indent="-168656">
              <a:lnSpc>
                <a:spcPts val="1820"/>
              </a:lnSpc>
              <a:buSzPct val="100000"/>
              <a:buChar char="•"/>
            </a:pPr>
            <a:r>
              <a:rPr lang="en-US" sz="1300" dirty="0">
                <a:solidFill>
                  <a:srgbClr val="1B2A3F"/>
                </a:solidFill>
                <a:latin typeface="IBM Plex Sans" pitchFamily="34" charset="0"/>
                <a:ea typeface="IBM Plex Sans" pitchFamily="34" charset="-122"/>
                <a:cs typeface="IBM Plex Sans" pitchFamily="34" charset="-120"/>
              </a:rPr>
              <a:t>It only reads files: it can't see the cluster</a:t>
            </a:r>
            <a:endParaRPr lang="en-US" sz="1300" dirty="0"/>
          </a:p>
          <a:p>
            <a:pPr algn="l" marL="168656" indent="-168656">
              <a:lnSpc>
                <a:spcPts val="1820"/>
              </a:lnSpc>
              <a:buSzPct val="100000"/>
              <a:buChar char="•"/>
            </a:pPr>
            <a:r>
              <a:rPr lang="en-US" sz="1300" dirty="0">
                <a:solidFill>
                  <a:srgbClr val="1B2A3F"/>
                </a:solidFill>
                <a:latin typeface="IBM Plex Sans" pitchFamily="34" charset="0"/>
                <a:ea typeface="IBM Plex Sans" pitchFamily="34" charset="-122"/>
                <a:cs typeface="IBM Plex Sans" pitchFamily="34" charset="-120"/>
              </a:rPr>
              <a:t>People can skip CI with kubectl apply</a:t>
            </a:r>
            <a:endParaRPr lang="en-US" sz="1300" dirty="0"/>
          </a:p>
          <a:p>
            <a:pPr algn="l" marL="168656" indent="-168656">
              <a:lnSpc>
                <a:spcPts val="1820"/>
              </a:lnSpc>
              <a:buSzPct val="100000"/>
              <a:buChar char="•"/>
            </a:pPr>
            <a:r>
              <a:rPr lang="en-US" sz="1300" dirty="0">
                <a:solidFill>
                  <a:srgbClr val="1B2A3F"/>
                </a:solidFill>
                <a:latin typeface="IBM Plex Sans" pitchFamily="34" charset="0"/>
                <a:ea typeface="IBM Plex Sans" pitchFamily="34" charset="-122"/>
                <a:cs typeface="IBM Plex Sans" pitchFamily="34" charset="-120"/>
              </a:rPr>
              <a:t>The webhook is one more thing to run</a:t>
            </a:r>
            <a:endParaRPr lang="en-US" sz="1300" dirty="0"/>
          </a:p>
          <a:p>
            <a:pPr algn="l" marL="168656" indent="-168656">
              <a:lnSpc>
                <a:spcPts val="1820"/>
              </a:lnSpc>
              <a:buSzPct val="100000"/>
              <a:buChar char="•"/>
            </a:pPr>
            <a:r>
              <a:rPr lang="en-US" sz="1300" dirty="0">
                <a:solidFill>
                  <a:srgbClr val="1B2A3F"/>
                </a:solidFill>
                <a:latin typeface="IBM Plex Sans" pitchFamily="34" charset="0"/>
                <a:ea typeface="IBM Plex Sans" pitchFamily="34" charset="-122"/>
                <a:cs typeface="IBM Plex Sans" pitchFamily="34" charset="-120"/>
              </a:rPr>
              <a:t>One company leads it: smaller community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A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A33A"/>
                </a:solidFill>
                <a:latin typeface="JetBrains Mono" pitchFamily="49" charset="0"/>
                <a:ea typeface="JetBrains Mono" pitchFamily="49" charset="-122"/>
                <a:cs typeface="JetBrains Mono" pitchFamily="49" charset="-120"/>
              </a:rPr>
              <a:t>RECOMMENDATION</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5EF"/>
                </a:solidFill>
                <a:latin typeface="IBM Plex Sans" pitchFamily="34" charset="0"/>
                <a:ea typeface="IBM Plex Sans" pitchFamily="34" charset="-122"/>
                <a:cs typeface="IBM Plex Sans" pitchFamily="34" charset="-120"/>
              </a:rPr>
              <a:t>Use more than one layer</a:t>
            </a:r>
            <a:endParaRPr lang="en-US" sz="3600" dirty="0"/>
          </a:p>
        </p:txBody>
      </p:sp>
      <p:sp>
        <p:nvSpPr>
          <p:cNvPr id="4" name="Shape 2"/>
          <p:cNvSpPr/>
          <p:nvPr/>
        </p:nvSpPr>
        <p:spPr>
          <a:xfrm>
            <a:off x="812800" y="2123349"/>
            <a:ext cx="3031067" cy="1894681"/>
          </a:xfrm>
          <a:prstGeom prst="roundRect">
            <a:avLst>
              <a:gd name="adj" fmla="val 6703"/>
            </a:avLst>
          </a:prstGeom>
          <a:solidFill>
            <a:srgbClr val="F2A33A"/>
          </a:solidFill>
          <a:ln/>
        </p:spPr>
      </p:sp>
      <p:sp>
        <p:nvSpPr>
          <p:cNvPr id="5" name="Text 3"/>
          <p:cNvSpPr/>
          <p:nvPr/>
        </p:nvSpPr>
        <p:spPr>
          <a:xfrm>
            <a:off x="1066800" y="2377349"/>
            <a:ext cx="2598759"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3233A"/>
                </a:solidFill>
                <a:latin typeface="JetBrains Mono" pitchFamily="49" charset="0"/>
                <a:ea typeface="JetBrains Mono" pitchFamily="49" charset="-122"/>
                <a:cs typeface="JetBrains Mono" pitchFamily="49" charset="-120"/>
              </a:rPr>
              <a:t>PR / CI</a:t>
            </a:r>
            <a:endParaRPr lang="en-US" sz="1200" dirty="0"/>
          </a:p>
        </p:txBody>
      </p:sp>
      <p:sp>
        <p:nvSpPr>
          <p:cNvPr id="6" name="Text 4"/>
          <p:cNvSpPr/>
          <p:nvPr/>
        </p:nvSpPr>
        <p:spPr>
          <a:xfrm>
            <a:off x="1066800" y="2692270"/>
            <a:ext cx="2598759"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3233A"/>
                </a:solidFill>
                <a:latin typeface="IBM Plex Sans" pitchFamily="34" charset="0"/>
                <a:ea typeface="IBM Plex Sans" pitchFamily="34" charset="-122"/>
                <a:cs typeface="IBM Plex Sans" pitchFamily="34" charset="-120"/>
              </a:rPr>
              <a:t>Polaris audit</a:t>
            </a:r>
            <a:endParaRPr lang="en-US" sz="2200" dirty="0"/>
          </a:p>
        </p:txBody>
      </p:sp>
      <p:sp>
        <p:nvSpPr>
          <p:cNvPr id="7" name="Text 5"/>
          <p:cNvSpPr/>
          <p:nvPr/>
        </p:nvSpPr>
        <p:spPr>
          <a:xfrm>
            <a:off x="1066800" y="3129099"/>
            <a:ext cx="2598759"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Fast feedback and a score</a:t>
            </a:r>
            <a:endParaRPr lang="en-US" sz="1400" dirty="0"/>
          </a:p>
        </p:txBody>
      </p:sp>
      <p:sp>
        <p:nvSpPr>
          <p:cNvPr id="8" name="Text 6"/>
          <p:cNvSpPr/>
          <p:nvPr/>
        </p:nvSpPr>
        <p:spPr>
          <a:xfrm>
            <a:off x="1066800" y="3479602"/>
            <a:ext cx="2598759"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3233A"/>
                </a:solidFill>
                <a:latin typeface="IBM Plex Sans" pitchFamily="34" charset="0"/>
                <a:ea typeface="IBM Plex Sans" pitchFamily="34" charset="-122"/>
                <a:cs typeface="IBM Plex Sans" pitchFamily="34" charset="-120"/>
              </a:rPr>
              <a:t>Teaches</a:t>
            </a:r>
            <a:endParaRPr lang="en-US" sz="1600" dirty="0"/>
          </a:p>
        </p:txBody>
      </p:sp>
      <p:pic>
        <p:nvPicPr>
          <p:cNvPr id="9" name="Image 0" descr="arrow-right">    </p:cNvPr>
          <p:cNvPicPr>
            <a:picLocks noChangeAspect="1"/>
          </p:cNvPicPr>
          <p:nvPr/>
        </p:nvPicPr>
        <p:blipFill>
          <a:blip r:embed="rId1"/>
          <a:srcRect l="0" r="0" t="0" b="0"/>
          <a:stretch/>
        </p:blipFill>
        <p:spPr>
          <a:xfrm>
            <a:off x="3996267" y="2943690"/>
            <a:ext cx="406400" cy="254000"/>
          </a:xfrm>
          <a:prstGeom prst="rect">
            <a:avLst/>
          </a:prstGeom>
        </p:spPr>
      </p:pic>
      <p:sp>
        <p:nvSpPr>
          <p:cNvPr id="10" name="Shape 7"/>
          <p:cNvSpPr/>
          <p:nvPr/>
        </p:nvSpPr>
        <p:spPr>
          <a:xfrm>
            <a:off x="4561417" y="1992579"/>
            <a:ext cx="3043767" cy="2156288"/>
          </a:xfrm>
          <a:prstGeom prst="roundRect">
            <a:avLst>
              <a:gd name="adj" fmla="val 5595"/>
            </a:avLst>
          </a:prstGeom>
          <a:solidFill>
            <a:srgbClr val="1C2F4A"/>
          </a:solidFill>
          <a:ln w="12700">
            <a:solidFill>
              <a:srgbClr val="3A5272"/>
            </a:solidFill>
            <a:prstDash val="solid"/>
          </a:ln>
        </p:spPr>
      </p:sp>
      <p:sp>
        <p:nvSpPr>
          <p:cNvPr id="11" name="Text 8"/>
          <p:cNvSpPr/>
          <p:nvPr/>
        </p:nvSpPr>
        <p:spPr>
          <a:xfrm>
            <a:off x="4821767" y="2252929"/>
            <a:ext cx="2598759"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9C4D3"/>
                </a:solidFill>
                <a:latin typeface="JetBrains Mono" pitchFamily="49" charset="0"/>
                <a:ea typeface="JetBrains Mono" pitchFamily="49" charset="-122"/>
                <a:cs typeface="JetBrains Mono" pitchFamily="49" charset="-120"/>
              </a:rPr>
              <a:t>ADMISSION</a:t>
            </a:r>
            <a:endParaRPr lang="en-US" sz="1200" dirty="0"/>
          </a:p>
        </p:txBody>
      </p:sp>
      <p:sp>
        <p:nvSpPr>
          <p:cNvPr id="12" name="Text 9"/>
          <p:cNvSpPr/>
          <p:nvPr/>
        </p:nvSpPr>
        <p:spPr>
          <a:xfrm>
            <a:off x="4821767" y="2567849"/>
            <a:ext cx="2598759"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7F5EF"/>
                </a:solidFill>
                <a:latin typeface="IBM Plex Sans" pitchFamily="34" charset="0"/>
                <a:ea typeface="IBM Plex Sans" pitchFamily="34" charset="-122"/>
                <a:cs typeface="IBM Plex Sans" pitchFamily="34" charset="-120"/>
              </a:rPr>
              <a:t>PSA + VAP</a:t>
            </a:r>
            <a:endParaRPr lang="en-US" sz="2200" dirty="0"/>
          </a:p>
        </p:txBody>
      </p:sp>
      <p:sp>
        <p:nvSpPr>
          <p:cNvPr id="13" name="Text 10"/>
          <p:cNvSpPr/>
          <p:nvPr/>
        </p:nvSpPr>
        <p:spPr>
          <a:xfrm>
            <a:off x="4821767" y="3004679"/>
            <a:ext cx="2598759"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0"/>
                </a:solidFill>
                <a:latin typeface="IBM Plex Sans" pitchFamily="34" charset="0"/>
                <a:ea typeface="IBM Plex Sans" pitchFamily="34" charset="-122"/>
                <a:cs typeface="IBM Plex Sans" pitchFamily="34" charset="-120"/>
              </a:rPr>
              <a:t>Restricted profile and CEL rules, or Kyverno</a:t>
            </a:r>
            <a:endParaRPr lang="en-US" sz="1400" dirty="0"/>
          </a:p>
        </p:txBody>
      </p:sp>
      <p:sp>
        <p:nvSpPr>
          <p:cNvPr id="14" name="Text 11"/>
          <p:cNvSpPr/>
          <p:nvPr/>
        </p:nvSpPr>
        <p:spPr>
          <a:xfrm>
            <a:off x="4821767" y="3604090"/>
            <a:ext cx="2598759"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A33A"/>
                </a:solidFill>
                <a:latin typeface="IBM Plex Sans" pitchFamily="34" charset="0"/>
                <a:ea typeface="IBM Plex Sans" pitchFamily="34" charset="-122"/>
                <a:cs typeface="IBM Plex Sans" pitchFamily="34" charset="-120"/>
              </a:rPr>
              <a:t>Blocks</a:t>
            </a:r>
            <a:endParaRPr lang="en-US" sz="1600" dirty="0"/>
          </a:p>
        </p:txBody>
      </p:sp>
      <p:pic>
        <p:nvPicPr>
          <p:cNvPr id="15" name="Image 1" descr="arrow-right">    </p:cNvPr>
          <p:cNvPicPr>
            <a:picLocks noChangeAspect="1"/>
          </p:cNvPicPr>
          <p:nvPr/>
        </p:nvPicPr>
        <p:blipFill>
          <a:blip r:embed="rId2"/>
          <a:srcRect l="0" r="0" t="0" b="0"/>
          <a:stretch/>
        </p:blipFill>
        <p:spPr>
          <a:xfrm>
            <a:off x="7763934" y="2943690"/>
            <a:ext cx="406400" cy="254000"/>
          </a:xfrm>
          <a:prstGeom prst="rect">
            <a:avLst/>
          </a:prstGeom>
        </p:spPr>
      </p:pic>
      <p:sp>
        <p:nvSpPr>
          <p:cNvPr id="16" name="Shape 12"/>
          <p:cNvSpPr/>
          <p:nvPr/>
        </p:nvSpPr>
        <p:spPr>
          <a:xfrm>
            <a:off x="8329084" y="1992579"/>
            <a:ext cx="3043767" cy="2156288"/>
          </a:xfrm>
          <a:prstGeom prst="roundRect">
            <a:avLst>
              <a:gd name="adj" fmla="val 5595"/>
            </a:avLst>
          </a:prstGeom>
          <a:solidFill>
            <a:srgbClr val="1C2F4A"/>
          </a:solidFill>
          <a:ln w="12700">
            <a:solidFill>
              <a:srgbClr val="3A5272"/>
            </a:solidFill>
            <a:prstDash val="solid"/>
          </a:ln>
        </p:spPr>
      </p:sp>
      <p:sp>
        <p:nvSpPr>
          <p:cNvPr id="17" name="Text 13"/>
          <p:cNvSpPr/>
          <p:nvPr/>
        </p:nvSpPr>
        <p:spPr>
          <a:xfrm>
            <a:off x="8589434" y="2252929"/>
            <a:ext cx="2598759"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9C4D3"/>
                </a:solidFill>
                <a:latin typeface="JetBrains Mono" pitchFamily="49" charset="0"/>
                <a:ea typeface="JetBrains Mono" pitchFamily="49" charset="-122"/>
                <a:cs typeface="JetBrains Mono" pitchFamily="49" charset="-120"/>
              </a:rPr>
              <a:t>RUNTIME</a:t>
            </a:r>
            <a:endParaRPr lang="en-US" sz="1200" dirty="0"/>
          </a:p>
        </p:txBody>
      </p:sp>
      <p:sp>
        <p:nvSpPr>
          <p:cNvPr id="18" name="Text 14"/>
          <p:cNvSpPr/>
          <p:nvPr/>
        </p:nvSpPr>
        <p:spPr>
          <a:xfrm>
            <a:off x="8589434" y="2567849"/>
            <a:ext cx="2598759"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7F5EF"/>
                </a:solidFill>
                <a:latin typeface="IBM Plex Sans" pitchFamily="34" charset="0"/>
                <a:ea typeface="IBM Plex Sans" pitchFamily="34" charset="-122"/>
                <a:cs typeface="IBM Plex Sans" pitchFamily="34" charset="-120"/>
              </a:rPr>
              <a:t>Dashboard</a:t>
            </a:r>
            <a:endParaRPr lang="en-US" sz="2200" dirty="0"/>
          </a:p>
        </p:txBody>
      </p:sp>
      <p:sp>
        <p:nvSpPr>
          <p:cNvPr id="19" name="Text 15"/>
          <p:cNvSpPr/>
          <p:nvPr/>
        </p:nvSpPr>
        <p:spPr>
          <a:xfrm>
            <a:off x="8589434" y="3004679"/>
            <a:ext cx="2598759"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0"/>
                </a:solidFill>
                <a:latin typeface="IBM Plex Sans" pitchFamily="34" charset="0"/>
                <a:ea typeface="IBM Plex Sans" pitchFamily="34" charset="-122"/>
                <a:cs typeface="IBM Plex Sans" pitchFamily="34" charset="-120"/>
              </a:rPr>
              <a:t>Finds problems in apps already running</a:t>
            </a:r>
            <a:endParaRPr lang="en-US" sz="1400" dirty="0"/>
          </a:p>
        </p:txBody>
      </p:sp>
      <p:sp>
        <p:nvSpPr>
          <p:cNvPr id="20" name="Text 16"/>
          <p:cNvSpPr/>
          <p:nvPr/>
        </p:nvSpPr>
        <p:spPr>
          <a:xfrm>
            <a:off x="8589434" y="3604090"/>
            <a:ext cx="2598759"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A33A"/>
                </a:solidFill>
                <a:latin typeface="IBM Plex Sans" pitchFamily="34" charset="0"/>
                <a:ea typeface="IBM Plex Sans" pitchFamily="34" charset="-122"/>
                <a:cs typeface="IBM Plex Sans" pitchFamily="34" charset="-120"/>
              </a:rPr>
              <a:t>Watches</a:t>
            </a:r>
            <a:endParaRPr lang="en-US" sz="1600" dirty="0"/>
          </a:p>
        </p:txBody>
      </p:sp>
      <p:sp>
        <p:nvSpPr>
          <p:cNvPr id="21" name="Text 17"/>
          <p:cNvSpPr/>
          <p:nvPr/>
        </p:nvSpPr>
        <p:spPr>
          <a:xfrm>
            <a:off x="812800" y="4510819"/>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9D3E0"/>
                </a:solidFill>
                <a:latin typeface="IBM Plex Sans" pitchFamily="34" charset="0"/>
                <a:ea typeface="IBM Plex Sans" pitchFamily="34" charset="-122"/>
                <a:cs typeface="IBM Plex Sans" pitchFamily="34" charset="-120"/>
              </a:rPr>
              <a:t>Start with </a:t>
            </a:r>
            <a:r>
              <a:rPr lang="en-US" sz="1600" b="1" dirty="0">
                <a:solidFill>
                  <a:srgbClr val="F2A33A"/>
                </a:solidFill>
                <a:latin typeface="IBM Plex Sans" pitchFamily="34" charset="0"/>
                <a:ea typeface="IBM Plex Sans" pitchFamily="34" charset="-122"/>
                <a:cs typeface="IBM Plex Sans" pitchFamily="34" charset="-120"/>
              </a:rPr>
              <a:t>warning</a:t>
            </a:r>
            <a:r>
              <a:rPr lang="en-US" sz="1600" dirty="0">
                <a:solidFill>
                  <a:srgbClr val="C9D3E0"/>
                </a:solidFill>
                <a:latin typeface="IBM Plex Sans" pitchFamily="34" charset="0"/>
                <a:ea typeface="IBM Plex Sans" pitchFamily="34" charset="-122"/>
                <a:cs typeface="IBM Plex Sans" pitchFamily="34" charset="-120"/>
              </a:rPr>
              <a:t>, look at the score, then go step by step.</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A2B"/>
        </a:solidFill>
      </p:bgPr>
    </p:bg>
    <p:spTree>
      <p:nvGrpSpPr>
        <p:cNvPr id="1" name=""/>
        <p:cNvGrpSpPr/>
        <p:nvPr/>
      </p:nvGrpSpPr>
      <p:grpSpPr>
        <a:xfrm>
          <a:off x="0" y="0"/>
          <a:ext cx="0" cy="0"/>
          <a:chOff x="0" y="0"/>
          <a:chExt cx="0" cy="0"/>
        </a:xfrm>
      </p:grpSpPr>
      <p:pic>
        <p:nvPicPr>
          <p:cNvPr id="2" name="Image 0" descr="Star">    </p:cNvPr>
          <p:cNvPicPr>
            <a:picLocks noChangeAspect="1"/>
          </p:cNvPicPr>
          <p:nvPr/>
        </p:nvPicPr>
        <p:blipFill>
          <a:blip r:embed="rId1"/>
          <a:srcRect l="0" r="0" t="0" b="0"/>
          <a:stretch/>
        </p:blipFill>
        <p:spPr>
          <a:xfrm>
            <a:off x="812800" y="1677789"/>
            <a:ext cx="508000" cy="508000"/>
          </a:xfrm>
          <a:prstGeom prst="rect">
            <a:avLst/>
          </a:prstGeom>
        </p:spPr>
      </p:pic>
      <p:sp>
        <p:nvSpPr>
          <p:cNvPr id="3" name="Text 0"/>
          <p:cNvSpPr/>
          <p:nvPr>
            <p:ph type="title"/>
          </p:nvPr>
        </p:nvSpPr>
        <p:spPr>
          <a:xfrm>
            <a:off x="812800" y="2287389"/>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7F5EF"/>
                </a:solidFill>
                <a:latin typeface="IBM Plex Sans" pitchFamily="34" charset="0"/>
                <a:ea typeface="IBM Plex Sans" pitchFamily="34" charset="-122"/>
                <a:cs typeface="IBM Plex Sans" pitchFamily="34" charset="-120"/>
              </a:rPr>
              <a:t>Thank you! Questions?</a:t>
            </a:r>
            <a:endParaRPr lang="en-US" sz="6000" dirty="0"/>
          </a:p>
        </p:txBody>
      </p:sp>
      <p:sp>
        <p:nvSpPr>
          <p:cNvPr id="4" name="Text 1"/>
          <p:cNvSpPr/>
          <p:nvPr/>
        </p:nvSpPr>
        <p:spPr>
          <a:xfrm>
            <a:off x="812800" y="3443089"/>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A33A"/>
                </a:solidFill>
                <a:latin typeface="JetBrains Mono" pitchFamily="49" charset="0"/>
                <a:ea typeface="JetBrains Mono" pitchFamily="49" charset="-122"/>
                <a:cs typeface="JetBrains Mono" pitchFamily="49" charset="-120"/>
              </a:rPr>
              <a:t>TRY THE DEMO</a:t>
            </a:r>
            <a:endParaRPr lang="en-US" sz="1200" dirty="0"/>
          </a:p>
        </p:txBody>
      </p:sp>
      <p:sp>
        <p:nvSpPr>
          <p:cNvPr id="5" name="Text 2"/>
          <p:cNvSpPr/>
          <p:nvPr/>
        </p:nvSpPr>
        <p:spPr>
          <a:xfrm>
            <a:off x="812800" y="3758009"/>
            <a:ext cx="5232400" cy="1447535"/>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E6EDF5"/>
                </a:solidFill>
                <a:latin typeface="JetBrains Mono" pitchFamily="49" charset="0"/>
                <a:ea typeface="JetBrains Mono" pitchFamily="49" charset="-122"/>
                <a:cs typeface="JetBrains Mono" pitchFamily="49" charset="-120"/>
              </a:rPr>
              <a:t>kubernetes-playground/polaris</a:t>
            </a:r>
            <a:endParaRPr lang="en-US" sz="1400" dirty="0"/>
          </a:p>
          <a:p>
            <a:pPr algn="l" indent="0" marL="0">
              <a:lnSpc>
                <a:spcPts val="2240"/>
              </a:lnSpc>
              <a:buNone/>
            </a:pPr>
            <a:r>
              <a:rPr lang="en-US" sz="1400" dirty="0">
                <a:solidFill>
                  <a:srgbClr val="E6EDF5"/>
                </a:solidFill>
                <a:latin typeface="JetBrains Mono" pitchFamily="49" charset="0"/>
                <a:ea typeface="JetBrains Mono" pitchFamily="49" charset="-122"/>
                <a:cs typeface="JetBrains Mono" pitchFamily="49" charset="-120"/>
              </a:rPr>
              <a:t>examples/bad → score 35</a:t>
            </a:r>
            <a:endParaRPr lang="en-US" sz="1400" dirty="0"/>
          </a:p>
          <a:p>
            <a:pPr algn="l" indent="0" marL="0">
              <a:lnSpc>
                <a:spcPts val="2240"/>
              </a:lnSpc>
              <a:buNone/>
            </a:pPr>
            <a:r>
              <a:rPr lang="en-US" sz="1400" dirty="0">
                <a:solidFill>
                  <a:srgbClr val="E6EDF5"/>
                </a:solidFill>
                <a:latin typeface="JetBrains Mono" pitchFamily="49" charset="0"/>
                <a:ea typeface="JetBrains Mono" pitchFamily="49" charset="-122"/>
                <a:cs typeface="JetBrains Mono" pitchFamily="49" charset="-120"/>
              </a:rPr>
              <a:t>examples/good → score 100</a:t>
            </a:r>
            <a:endParaRPr lang="en-US" sz="1400" dirty="0"/>
          </a:p>
          <a:p>
            <a:pPr algn="l" indent="0" marL="0">
              <a:lnSpc>
                <a:spcPts val="2240"/>
              </a:lnSpc>
              <a:buNone/>
            </a:pPr>
            <a:r>
              <a:rPr lang="en-US" sz="1400" dirty="0">
                <a:solidFill>
                  <a:srgbClr val="E6EDF5"/>
                </a:solidFill>
                <a:latin typeface="JetBrains Mono" pitchFamily="49" charset="0"/>
                <a:ea typeface="JetBrains Mono" pitchFamily="49" charset="-122"/>
                <a:cs typeface="JetBrains Mono" pitchFamily="49" charset="-120"/>
              </a:rPr>
              <a:t>polaris-config.yaml</a:t>
            </a:r>
            <a:endParaRPr lang="en-US" sz="1400" dirty="0"/>
          </a:p>
          <a:p>
            <a:pPr algn="l" indent="0" marL="0">
              <a:lnSpc>
                <a:spcPts val="2240"/>
              </a:lnSpc>
              <a:buNone/>
            </a:pPr>
            <a:r>
              <a:rPr lang="en-US" sz="1400" dirty="0">
                <a:solidFill>
                  <a:srgbClr val="E6EDF5"/>
                </a:solidFill>
                <a:latin typeface="JetBrains Mono" pitchFamily="49" charset="0"/>
                <a:ea typeface="JetBrains Mono" pitchFamily="49" charset="-122"/>
                <a:cs typeface="JetBrains Mono" pitchFamily="49" charset="-120"/>
              </a:rPr>
              <a:t>ci/github-actions-polaris.yaml</a:t>
            </a:r>
            <a:endParaRPr lang="en-US" sz="1400" dirty="0"/>
          </a:p>
        </p:txBody>
      </p:sp>
      <p:sp>
        <p:nvSpPr>
          <p:cNvPr id="6" name="Text 3"/>
          <p:cNvSpPr/>
          <p:nvPr/>
        </p:nvSpPr>
        <p:spPr>
          <a:xfrm>
            <a:off x="6299200" y="3443089"/>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A33A"/>
                </a:solidFill>
                <a:latin typeface="JetBrains Mono" pitchFamily="49" charset="0"/>
                <a:ea typeface="JetBrains Mono" pitchFamily="49" charset="-122"/>
                <a:cs typeface="JetBrains Mono" pitchFamily="49" charset="-120"/>
              </a:rPr>
              <a:t>LINKS</a:t>
            </a:r>
            <a:endParaRPr lang="en-US" sz="1200" dirty="0"/>
          </a:p>
        </p:txBody>
      </p:sp>
      <p:sp>
        <p:nvSpPr>
          <p:cNvPr id="7" name="Text 4"/>
          <p:cNvSpPr/>
          <p:nvPr/>
        </p:nvSpPr>
        <p:spPr>
          <a:xfrm>
            <a:off x="6299200" y="3758009"/>
            <a:ext cx="5232400" cy="1447535"/>
          </a:xfrm>
          <a:prstGeom prst="rect">
            <a:avLst/>
          </a:prstGeom>
          <a:noFill/>
          <a:ln/>
        </p:spPr>
        <p:txBody>
          <a:bodyPr wrap="square" lIns="0" tIns="0" rIns="0" bIns="0" rtlCol="0" anchor="t">
            <a:normAutofit/>
          </a:bodyPr>
          <a:lstStyle/>
          <a:p>
            <a:pPr algn="l" indent="0" marL="0">
              <a:lnSpc>
                <a:spcPts val="2240"/>
              </a:lnSpc>
              <a:buNone/>
            </a:pPr>
            <a:r>
              <a:rPr lang="en-US" sz="1400" u="sng" dirty="0">
                <a:solidFill>
                  <a:srgbClr val="C9D3E0"/>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polaris.docs.fairwinds.com</a:t>
            </a:r>
            <a:endParaRPr lang="en-US" sz="1400" dirty="0"/>
          </a:p>
          <a:p>
            <a:pPr algn="l" indent="0" marL="0">
              <a:lnSpc>
                <a:spcPts val="2240"/>
              </a:lnSpc>
              <a:buNone/>
            </a:pPr>
            <a:r>
              <a:rPr lang="en-US" sz="1400" u="sng" dirty="0">
                <a:solidFill>
                  <a:srgbClr val="C9D3E0"/>
                </a:solidFill>
                <a:latin typeface="IBM Plex Sans" pitchFamily="34" charset="0"/>
                <a:ea typeface="IBM Plex Sans" pitchFamily="34" charset="-122"/>
                <a:cs typeface="IBM Plex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github.com/FairwindsOps/polaris</a:t>
            </a:r>
            <a:endParaRPr lang="en-US" sz="1400" dirty="0"/>
          </a:p>
          <a:p>
            <a:pPr algn="l" indent="0" marL="0">
              <a:lnSpc>
                <a:spcPts val="2240"/>
              </a:lnSpc>
              <a:buNone/>
            </a:pPr>
            <a:r>
              <a:rPr lang="en-US" sz="1400" u="sng" dirty="0">
                <a:solidFill>
                  <a:srgbClr val="C9D3E0"/>
                </a:solidFill>
                <a:latin typeface="IBM Plex Sans" pitchFamily="34" charset="0"/>
                <a:ea typeface="IBM Plex Sans" pitchFamily="34" charset="-122"/>
                <a:cs typeface="IBM Plex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CNCF blog: What is Fairwinds Polaris</a:t>
            </a:r>
            <a:endParaRPr lang="en-US" sz="1400" dirty="0"/>
          </a:p>
          <a:p>
            <a:pPr algn="l" indent="0" marL="0">
              <a:lnSpc>
                <a:spcPts val="2240"/>
              </a:lnSpc>
              <a:buNone/>
            </a:pPr>
            <a:r>
              <a:rPr lang="en-US" sz="1400" u="sng" dirty="0">
                <a:solidFill>
                  <a:srgbClr val="C9D3E0"/>
                </a:solidFill>
                <a:latin typeface="IBM Plex Sans" pitchFamily="34" charset="0"/>
                <a:ea typeface="IBM Plex Sans" pitchFamily="34" charset="-122"/>
                <a:cs typeface="IBM Plex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Pod Security Admission docs</a:t>
            </a:r>
            <a:endParaRPr lang="en-US" sz="1400" dirty="0"/>
          </a:p>
          <a:p>
            <a:pPr algn="l" indent="0" marL="0">
              <a:lnSpc>
                <a:spcPts val="2240"/>
              </a:lnSpc>
              <a:buNone/>
            </a:pPr>
            <a:r>
              <a:rPr lang="en-US" sz="1400" u="sng" dirty="0">
                <a:solidFill>
                  <a:srgbClr val="C9D3E0"/>
                </a:solidFill>
                <a:latin typeface="IBM Plex Sans" pitchFamily="34" charset="0"/>
                <a:ea typeface="IBM Plex Sans" pitchFamily="34" charset="-122"/>
                <a:cs typeface="IBM Plex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ValidatingAdmissionPolicy docs</a:t>
            </a:r>
            <a:endParaRPr lang="en-US" sz="1400" dirty="0"/>
          </a:p>
        </p:txBody>
      </p:sp>
    </p:spTree>
  </p:cSld>
  <p:clrMapOvr>
    <a:masterClrMapping/>
  </p:clrMapOvr>
</p:sld>
</file>

<file path=ppt/theme/theme1.xml><?xml version="1.0" encoding="utf-8"?>
<a:theme xmlns:a="http://schemas.openxmlformats.org/drawingml/2006/main" name="Polaris: Kubernetes Configuration Validation">
  <a:themeElements>
    <a:clrScheme name="Polaris: Kubernetes Configuration Validation">
      <a:dk1>
        <a:srgbClr val="1B2A3F"/>
      </a:dk1>
      <a:lt1>
        <a:srgbClr val="F7F5EF"/>
      </a:lt1>
      <a:dk2>
        <a:srgbClr val="525D6B"/>
      </a:dk2>
      <a:lt2>
        <a:srgbClr val="E1E1DD"/>
      </a:lt2>
      <a:accent1>
        <a:srgbClr val="F2A33A"/>
      </a:accent1>
      <a:accent2>
        <a:srgbClr val="A65F00"/>
      </a:accent2>
      <a:accent3>
        <a:srgbClr val="2F6FEB"/>
      </a:accent3>
      <a:accent4>
        <a:srgbClr val="B8360F"/>
      </a:accent4>
      <a:accent5>
        <a:srgbClr val="F2C76E"/>
      </a:accent5>
      <a:accent6>
        <a:srgbClr val="8FA3BC"/>
      </a:accent6>
      <a:hlink>
        <a:srgbClr val="0563C1"/>
      </a:hlink>
      <a:folHlink>
        <a:srgbClr val="954F72"/>
      </a:folHlink>
    </a:clrScheme>
    <a:fontScheme name="Polaris: Kubernetes Configuration Valid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Polaris: Kubernetes Configuration Validation</dc:title>
  <dc:subject/>
  <dc:creator/>
  <cp:lastModifiedBy/>
  <cp:revision>1</cp:revision>
  <dcterms:created xsi:type="dcterms:W3CDTF">2026-10-11T16:49:35Z</dcterms:created>
  <dcterms:modified xsi:type="dcterms:W3CDTF">2026-10-11T16:49:35Z</dcterms:modified>
</cp:coreProperties>
</file>